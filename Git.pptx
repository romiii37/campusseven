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31"/>
  </p:notesMasterIdLst>
  <p:sldIdLst>
    <p:sldId id="256" r:id="rId2"/>
    <p:sldId id="257" r:id="rId3"/>
    <p:sldId id="259" r:id="rId4"/>
    <p:sldId id="260" r:id="rId5"/>
    <p:sldId id="297" r:id="rId6"/>
    <p:sldId id="296" r:id="rId7"/>
    <p:sldId id="299" r:id="rId8"/>
    <p:sldId id="262" r:id="rId9"/>
    <p:sldId id="264" r:id="rId10"/>
    <p:sldId id="311" r:id="rId11"/>
    <p:sldId id="305" r:id="rId12"/>
    <p:sldId id="314" r:id="rId13"/>
    <p:sldId id="313" r:id="rId14"/>
    <p:sldId id="310" r:id="rId15"/>
    <p:sldId id="323" r:id="rId16"/>
    <p:sldId id="301" r:id="rId17"/>
    <p:sldId id="317" r:id="rId18"/>
    <p:sldId id="316" r:id="rId19"/>
    <p:sldId id="318" r:id="rId20"/>
    <p:sldId id="306" r:id="rId21"/>
    <p:sldId id="319" r:id="rId22"/>
    <p:sldId id="315" r:id="rId23"/>
    <p:sldId id="303" r:id="rId24"/>
    <p:sldId id="320" r:id="rId25"/>
    <p:sldId id="270" r:id="rId26"/>
    <p:sldId id="308" r:id="rId27"/>
    <p:sldId id="321" r:id="rId28"/>
    <p:sldId id="322" r:id="rId29"/>
    <p:sldId id="274" r:id="rId30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Lora" pitchFamily="2" charset="0"/>
      <p:regular r:id="rId36"/>
      <p:bold r:id="rId37"/>
      <p:italic r:id="rId38"/>
      <p:boldItalic r:id="rId39"/>
    </p:embeddedFont>
    <p:embeddedFont>
      <p:font typeface="Quattrocento Sans" panose="020B0600000101010101" charset="0"/>
      <p:regular r:id="rId40"/>
      <p:bold r:id="rId41"/>
      <p:italic r:id="rId42"/>
      <p:boldItalic r:id="rId43"/>
    </p:embeddedFont>
    <p:embeddedFont>
      <p:font typeface="맑은 고딕" panose="020B0503020000020004" pitchFamily="50" charset="-127"/>
      <p:regular r:id="rId44"/>
      <p:bold r:id="rId45"/>
    </p:embeddedFont>
    <p:embeddedFont>
      <p:font typeface="함초롬돋움" panose="020B0604000101010101" pitchFamily="50" charset="-127"/>
      <p:regular r:id="rId46"/>
      <p:bold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  <a:srgbClr val="FFFFFF"/>
    <a:srgbClr val="F0EEE9"/>
    <a:srgbClr val="F6921D"/>
    <a:srgbClr val="A769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5B2040-0373-4AB5-8C16-54180E59C3D7}">
  <a:tblStyle styleId="{DA5B2040-0373-4AB5-8C16-54180E59C3D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83C8C0-4F54-423C-8FE9-BE38F65F230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059" autoAdjust="0"/>
  </p:normalViewPr>
  <p:slideViewPr>
    <p:cSldViewPr snapToGrid="0">
      <p:cViewPr varScale="1">
        <p:scale>
          <a:sx n="113" d="100"/>
          <a:sy n="113" d="100"/>
        </p:scale>
        <p:origin x="9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시작하겠습니다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저는 깃을 주제로 준비한 내용을 발표하려고 합니다</a:t>
            </a:r>
            <a:r>
              <a:rPr lang="en-US" altLang="ko-KR" dirty="0"/>
              <a:t>. </a:t>
            </a:r>
            <a:r>
              <a:rPr lang="ko-KR" altLang="en-US" dirty="0"/>
              <a:t>깃은 현재 개발자들 사이에서 매우 인기있고 많이 쓰고</a:t>
            </a:r>
            <a:r>
              <a:rPr lang="en-US" altLang="ko-KR" dirty="0"/>
              <a:t>, </a:t>
            </a:r>
            <a:r>
              <a:rPr lang="ko-KR" altLang="en-US" dirty="0"/>
              <a:t>거의 대부분의 업체에서도 도입해서 사용하는 소프트웨어인데요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저희는 깃에 대해 모든 것을 알 필요까지는 없지만</a:t>
            </a:r>
            <a:r>
              <a:rPr lang="en-US" altLang="ko-KR" dirty="0"/>
              <a:t>, </a:t>
            </a:r>
            <a:r>
              <a:rPr lang="ko-KR" altLang="en-US" dirty="0"/>
              <a:t>저희가 만드는 교육과정에 대부분 포함이 되어있는 만큼</a:t>
            </a:r>
            <a:r>
              <a:rPr lang="en-US" altLang="ko-KR" dirty="0"/>
              <a:t>, </a:t>
            </a:r>
            <a:r>
              <a:rPr lang="ko-KR" altLang="en-US" dirty="0"/>
              <a:t>깃이 무엇인지 왜 쓰는지</a:t>
            </a:r>
            <a:r>
              <a:rPr lang="en-US" altLang="ko-KR" dirty="0"/>
              <a:t> </a:t>
            </a:r>
            <a:r>
              <a:rPr lang="ko-KR" altLang="en-US" dirty="0"/>
              <a:t>파악할 필요는 있다고 생각하기 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제 발표를 통해서 많이 </a:t>
            </a:r>
            <a:r>
              <a:rPr lang="ko-KR" altLang="en-US" dirty="0" err="1"/>
              <a:t>알아가셨으면</a:t>
            </a:r>
            <a:r>
              <a:rPr lang="ko-KR" altLang="en-US" dirty="0"/>
              <a:t> 좋겠습니다</a:t>
            </a:r>
            <a:r>
              <a:rPr lang="en-US" altLang="ko-KR" dirty="0"/>
              <a:t>.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목차입니다</a:t>
            </a:r>
            <a:r>
              <a:rPr lang="en-US" altLang="ko-KR" dirty="0"/>
              <a:t>. git </a:t>
            </a:r>
            <a:r>
              <a:rPr lang="ko-KR" altLang="en-US" dirty="0"/>
              <a:t>이란 </a:t>
            </a:r>
            <a:r>
              <a:rPr lang="ko-KR" altLang="en-US" dirty="0" err="1"/>
              <a:t>뭔지</a:t>
            </a:r>
            <a:r>
              <a:rPr lang="en-US" altLang="ko-KR" dirty="0"/>
              <a:t>, git</a:t>
            </a:r>
            <a:r>
              <a:rPr lang="ko-KR" altLang="en-US" dirty="0"/>
              <a:t>을 왜 쓰는지</a:t>
            </a:r>
            <a:r>
              <a:rPr lang="en-US" altLang="ko-KR" dirty="0"/>
              <a:t>, git </a:t>
            </a:r>
            <a:r>
              <a:rPr lang="ko-KR" altLang="en-US" dirty="0"/>
              <a:t>의 원리와 사용방법</a:t>
            </a:r>
            <a:r>
              <a:rPr lang="en-US" altLang="ko-KR" dirty="0"/>
              <a:t>, git</a:t>
            </a:r>
            <a:r>
              <a:rPr lang="ko-KR" altLang="en-US" dirty="0"/>
              <a:t>의 전망 그리고 교육 과정에서의 </a:t>
            </a:r>
            <a:r>
              <a:rPr lang="en-US" altLang="ko-KR" dirty="0"/>
              <a:t>git </a:t>
            </a:r>
            <a:r>
              <a:rPr lang="ko-KR" altLang="en-US" dirty="0"/>
              <a:t>필요성에 대해 살펴보겠습니다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첫번째로</a:t>
            </a:r>
            <a:r>
              <a:rPr lang="en-US" altLang="ko-KR" dirty="0"/>
              <a:t>, Git </a:t>
            </a:r>
            <a:r>
              <a:rPr lang="ko-KR" altLang="en-US" dirty="0"/>
              <a:t>이란</a:t>
            </a:r>
            <a:r>
              <a:rPr lang="en-US" altLang="ko-KR" dirty="0"/>
              <a:t> </a:t>
            </a:r>
            <a:r>
              <a:rPr lang="ko-KR" altLang="en-US" dirty="0"/>
              <a:t>대체 무엇인가를 보겠습니다</a:t>
            </a:r>
            <a:r>
              <a:rPr lang="en-US" altLang="ko-KR" dirty="0"/>
              <a:t>.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우리가 업무를 하면서 필요한 서류들이 굉장히 많은데 그 서류들 작성할 때</a:t>
            </a:r>
            <a:r>
              <a:rPr lang="en-US" altLang="ko-KR" dirty="0"/>
              <a:t>, </a:t>
            </a:r>
            <a:r>
              <a:rPr lang="ko-KR" altLang="en-US" dirty="0"/>
              <a:t>혹은 프로젝트 할 때나 대학생들 </a:t>
            </a:r>
            <a:r>
              <a:rPr lang="ko-KR" altLang="en-US" dirty="0" err="1"/>
              <a:t>레포트</a:t>
            </a:r>
            <a:r>
              <a:rPr lang="ko-KR" altLang="en-US" dirty="0"/>
              <a:t> 작성할 때 </a:t>
            </a:r>
            <a:r>
              <a:rPr lang="en-US" altLang="ko-KR" dirty="0"/>
              <a:t> </a:t>
            </a:r>
            <a:r>
              <a:rPr lang="ko-KR" altLang="en-US" dirty="0" err="1"/>
              <a:t>어떻게들</a:t>
            </a:r>
            <a:r>
              <a:rPr lang="ko-KR" altLang="en-US" dirty="0"/>
              <a:t> 하시나요</a:t>
            </a:r>
            <a:r>
              <a:rPr lang="en-US" altLang="ko-KR" dirty="0"/>
              <a:t>?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. </a:t>
            </a:r>
            <a:r>
              <a:rPr lang="ko-KR" altLang="en-US" dirty="0"/>
              <a:t>컴퓨터로 문서를 만들죠</a:t>
            </a:r>
            <a:r>
              <a:rPr lang="en-US" altLang="ko-KR" dirty="0"/>
              <a:t>!? </a:t>
            </a:r>
            <a:r>
              <a:rPr lang="ko-KR" altLang="en-US" dirty="0"/>
              <a:t>파워포인트</a:t>
            </a:r>
            <a:r>
              <a:rPr lang="en-US" altLang="ko-KR" dirty="0"/>
              <a:t>, </a:t>
            </a:r>
            <a:r>
              <a:rPr lang="ko-KR" altLang="en-US" dirty="0"/>
              <a:t>워드</a:t>
            </a:r>
            <a:r>
              <a:rPr lang="en-US" altLang="ko-KR" dirty="0"/>
              <a:t>, </a:t>
            </a:r>
            <a:r>
              <a:rPr lang="ko-KR" altLang="en-US" dirty="0"/>
              <a:t>한글 혹은 </a:t>
            </a:r>
            <a:r>
              <a:rPr lang="ko-KR" altLang="en-US" dirty="0" err="1"/>
              <a:t>엑셀같은</a:t>
            </a:r>
            <a:r>
              <a:rPr lang="ko-KR" altLang="en-US" dirty="0"/>
              <a:t> 프로그램을 이용해서 파일을 생성하고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 만든 파일들로 수정하고 업데이트하고 관리를 하게 됩니다</a:t>
            </a:r>
            <a:r>
              <a:rPr lang="en-US" altLang="ko-KR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766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그렇다면 그 만들어진 것들을 서로 공유해야 할 때는 어떻게 하시나요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943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제일 단순하고 쉬운 방법들이죠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카카오톡으로 보내거나 메일로 주고 받거나</a:t>
            </a:r>
            <a:r>
              <a:rPr lang="en-US" altLang="ko-KR" dirty="0"/>
              <a:t>, </a:t>
            </a:r>
            <a:r>
              <a:rPr lang="ko-KR" altLang="en-US" dirty="0"/>
              <a:t>아니면 구글 드라이브나 네이버 클라우드 같은 웹디스크</a:t>
            </a:r>
            <a:r>
              <a:rPr lang="en-US" altLang="ko-KR" dirty="0"/>
              <a:t>, </a:t>
            </a:r>
            <a:r>
              <a:rPr lang="ko-KR" altLang="en-US" dirty="0"/>
              <a:t>온라인 스토리지 서비스를 통해 공유합니다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이런 기존 방법들을 이용하면 생기는 </a:t>
            </a:r>
            <a:r>
              <a:rPr lang="ko-KR" altLang="en-US" dirty="0" err="1"/>
              <a:t>불편함들이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같은 내용인데 파일 명이 여러 개가 되면서 헷갈릴 수 있게 되고</a:t>
            </a:r>
            <a:r>
              <a:rPr lang="en-US" altLang="ko-KR" dirty="0"/>
              <a:t>, </a:t>
            </a:r>
            <a:r>
              <a:rPr lang="ko-KR" altLang="en-US" dirty="0"/>
              <a:t>파일을 전송하면 또 새로 </a:t>
            </a:r>
            <a:r>
              <a:rPr lang="ko-KR" altLang="en-US" dirty="0" err="1"/>
              <a:t>저장해야되고</a:t>
            </a:r>
            <a:r>
              <a:rPr lang="en-US" altLang="ko-KR" dirty="0"/>
              <a:t>, </a:t>
            </a:r>
            <a:r>
              <a:rPr lang="ko-KR" altLang="en-US" dirty="0"/>
              <a:t>그렇게 파일이 많아지고 또 많아지다 보면 누가 만든 파일인지 출처가 불분명하게 될 수도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그럼 도대체 </a:t>
            </a:r>
            <a:r>
              <a:rPr lang="en-US" dirty="0"/>
              <a:t>Git </a:t>
            </a:r>
            <a:r>
              <a:rPr lang="ko-KR" altLang="en-US" dirty="0"/>
              <a:t>이 뭐냐</a:t>
            </a:r>
            <a:r>
              <a:rPr lang="en-US" altLang="ko-KR" dirty="0"/>
              <a:t>! Git</a:t>
            </a:r>
            <a:r>
              <a:rPr lang="en-US" dirty="0"/>
              <a:t> </a:t>
            </a:r>
            <a:r>
              <a:rPr lang="ko-KR" altLang="en-US" dirty="0"/>
              <a:t>은 이러한 문제들을 해결해주는 소프트웨어다 라고 생각하시면 됩니다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640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우선 </a:t>
            </a:r>
            <a:r>
              <a:rPr lang="en-US" altLang="ko-KR" dirty="0"/>
              <a:t>Git</a:t>
            </a:r>
            <a:r>
              <a:rPr lang="ko-KR" altLang="en-US" dirty="0"/>
              <a:t>은 </a:t>
            </a:r>
            <a:r>
              <a:rPr lang="ko-KR" altLang="en-US" dirty="0" err="1"/>
              <a:t>리누스</a:t>
            </a:r>
            <a:r>
              <a:rPr lang="ko-KR" altLang="en-US" dirty="0"/>
              <a:t> </a:t>
            </a:r>
            <a:r>
              <a:rPr lang="ko-KR" altLang="en-US" dirty="0" err="1"/>
              <a:t>토발즈라는</a:t>
            </a:r>
            <a:r>
              <a:rPr lang="ko-KR" altLang="en-US" dirty="0"/>
              <a:t> 사람이 개발한 오픈 소스 소프트웨어입니다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리눅스라고 </a:t>
            </a:r>
            <a:r>
              <a:rPr lang="ko-KR" altLang="en-US" dirty="0" err="1"/>
              <a:t>들어보셨을텐데</a:t>
            </a:r>
            <a:r>
              <a:rPr lang="en-US" altLang="ko-KR" dirty="0"/>
              <a:t>, pc</a:t>
            </a:r>
            <a:r>
              <a:rPr lang="ko-KR" altLang="en-US" dirty="0"/>
              <a:t>에서의 윈도우</a:t>
            </a:r>
            <a:r>
              <a:rPr lang="en-US" altLang="ko-KR" dirty="0"/>
              <a:t>/</a:t>
            </a:r>
            <a:r>
              <a:rPr lang="ko-KR" altLang="en-US" dirty="0"/>
              <a:t>맥</a:t>
            </a:r>
            <a:r>
              <a:rPr lang="en-US" altLang="ko-KR" dirty="0" err="1"/>
              <a:t>os</a:t>
            </a:r>
            <a:r>
              <a:rPr lang="en-US" altLang="ko-KR" dirty="0"/>
              <a:t>, </a:t>
            </a:r>
            <a:r>
              <a:rPr lang="ko-KR" altLang="en-US" dirty="0"/>
              <a:t>모바일에서의 </a:t>
            </a:r>
            <a:r>
              <a:rPr lang="en-US" altLang="ko-KR" dirty="0" err="1"/>
              <a:t>ios</a:t>
            </a:r>
            <a:r>
              <a:rPr lang="en-US" altLang="ko-KR" dirty="0"/>
              <a:t>/</a:t>
            </a:r>
            <a:r>
              <a:rPr lang="ko-KR" altLang="en-US" dirty="0"/>
              <a:t>안드로이드 와 같은 운영체제 중 하나로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바로 이  리눅스를 만든 사람입니다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리눅스에서 핵심인 커널이라는 것의 소스코드를 관리하다가 관리가 너무 안돼서 </a:t>
            </a:r>
            <a:endParaRPr lang="en-US" altLang="ko-KR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더 정확하게는 분산 버전 관리 시스템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 커널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584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3605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개발자들이 작성하는 코드는 몇 </a:t>
            </a:r>
            <a:r>
              <a:rPr lang="ko-KR" altLang="en-US" dirty="0" err="1"/>
              <a:t>만줄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7129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12401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39764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개발자들이 작성하는 코드는 몇 </a:t>
            </a:r>
            <a:r>
              <a:rPr lang="ko-KR" altLang="en-US" dirty="0" err="1"/>
              <a:t>만줄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987928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0968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32007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3037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68811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9109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65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8025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5335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d5a3b4cb5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d5a3b4cb5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51181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20083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2209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현재는 이틀정도 특강으로 진행되어서 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하지만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771995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chemeClr val="accent1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2" name="Google Shape;22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1" name="Google Shape;31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37" name="Google Shape;37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Google Shape;38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8" name="Google Shape;48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4" name="Google Shape;54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" name="Google Shape;55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0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Google Shape;63;p10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Quattrocento Sans"/>
              <a:buChar char="◉"/>
              <a:defRPr sz="2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○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■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896549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  <a:highlight>
                  <a:srgbClr val="FFCD00"/>
                </a:highlight>
              </a:rPr>
              <a:t>About Git?</a:t>
            </a:r>
            <a:br>
              <a:rPr lang="en" dirty="0"/>
            </a:br>
            <a:endParaRPr dirty="0"/>
          </a:p>
        </p:txBody>
      </p:sp>
      <p:grpSp>
        <p:nvGrpSpPr>
          <p:cNvPr id="72" name="Google Shape;72;p12"/>
          <p:cNvGrpSpPr/>
          <p:nvPr/>
        </p:nvGrpSpPr>
        <p:grpSpPr>
          <a:xfrm>
            <a:off x="1299165" y="3511424"/>
            <a:ext cx="215966" cy="342399"/>
            <a:chOff x="6718575" y="2318625"/>
            <a:chExt cx="256950" cy="407375"/>
          </a:xfrm>
        </p:grpSpPr>
        <p:sp>
          <p:nvSpPr>
            <p:cNvPr id="73" name="Google Shape;73;p12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2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2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2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2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2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1;p12">
            <a:extLst>
              <a:ext uri="{FF2B5EF4-FFF2-40B4-BE49-F238E27FC236}">
                <a16:creationId xmlns:a16="http://schemas.microsoft.com/office/drawing/2014/main" id="{040CB9AA-01C0-4AFC-BEDA-1D39B1B0C76A}"/>
              </a:ext>
            </a:extLst>
          </p:cNvPr>
          <p:cNvSpPr txBox="1">
            <a:spLocks/>
          </p:cNvSpPr>
          <p:nvPr/>
        </p:nvSpPr>
        <p:spPr>
          <a:xfrm>
            <a:off x="7603610" y="3640661"/>
            <a:ext cx="968883" cy="4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r>
              <a:rPr lang="en-US" sz="1200" dirty="0">
                <a:solidFill>
                  <a:schemeClr val="tx1"/>
                </a:solidFill>
              </a:rPr>
              <a:t>By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highlight>
                  <a:srgbClr val="FFCD00"/>
                </a:highlight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정채원</a:t>
            </a:r>
            <a:endParaRPr lang="en-US" sz="1200" dirty="0">
              <a:highlight>
                <a:srgbClr val="FFCD00"/>
              </a:highlight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C8238271-2597-461E-A01B-6C442A96CF77}"/>
              </a:ext>
            </a:extLst>
          </p:cNvPr>
          <p:cNvSpPr/>
          <p:nvPr/>
        </p:nvSpPr>
        <p:spPr>
          <a:xfrm>
            <a:off x="5785169" y="325466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5650" y="4163500"/>
            <a:ext cx="9144000" cy="97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Contents</a:t>
            </a:r>
            <a:endParaRPr dirty="0"/>
          </a:p>
        </p:txBody>
      </p:sp>
      <p:grpSp>
        <p:nvGrpSpPr>
          <p:cNvPr id="87" name="Google Shape;87;p13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88" name="Google Shape;88;p13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3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7250E2E-E6A6-4B81-A4B3-2F8A7A4EC7A8}"/>
              </a:ext>
            </a:extLst>
          </p:cNvPr>
          <p:cNvSpPr/>
          <p:nvPr/>
        </p:nvSpPr>
        <p:spPr>
          <a:xfrm>
            <a:off x="5771001" y="1487753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36D0E46-283A-41D5-9C75-3D6C1700C1A7}"/>
              </a:ext>
            </a:extLst>
          </p:cNvPr>
          <p:cNvSpPr/>
          <p:nvPr/>
        </p:nvSpPr>
        <p:spPr>
          <a:xfrm>
            <a:off x="5779349" y="1936337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BDCCCBA0-EFC7-4A9A-BB3F-D7D3F24D550C}"/>
              </a:ext>
            </a:extLst>
          </p:cNvPr>
          <p:cNvSpPr/>
          <p:nvPr/>
        </p:nvSpPr>
        <p:spPr>
          <a:xfrm>
            <a:off x="5779348" y="236895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4665F30-0374-4F9B-861F-FBF4FB6B4590}"/>
              </a:ext>
            </a:extLst>
          </p:cNvPr>
          <p:cNvSpPr/>
          <p:nvPr/>
        </p:nvSpPr>
        <p:spPr>
          <a:xfrm>
            <a:off x="5787412" y="2813151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1" name="Google Shape;92;p13">
            <a:extLst>
              <a:ext uri="{FF2B5EF4-FFF2-40B4-BE49-F238E27FC236}">
                <a16:creationId xmlns:a16="http://schemas.microsoft.com/office/drawing/2014/main" id="{6D26F28A-B15D-430C-9B4B-1710EFDB0DE0}"/>
              </a:ext>
            </a:extLst>
          </p:cNvPr>
          <p:cNvSpPr txBox="1"/>
          <p:nvPr/>
        </p:nvSpPr>
        <p:spPr>
          <a:xfrm>
            <a:off x="5750829" y="1187333"/>
            <a:ext cx="3226800" cy="2427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lang="en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 </a:t>
            </a:r>
            <a:r>
              <a:rPr lang="en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이란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왜 쓰는가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</a:p>
          <a:p>
            <a:pPr lvl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3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원리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&amp;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사용방법</a:t>
            </a:r>
            <a:endParaRPr lang="en-US" altLang="ko-KR" sz="16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lvl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전망</a:t>
            </a: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5    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교육 과정에서의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1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6" name="Google Shape;111;p15">
            <a:extLst>
              <a:ext uri="{FF2B5EF4-FFF2-40B4-BE49-F238E27FC236}">
                <a16:creationId xmlns:a16="http://schemas.microsoft.com/office/drawing/2014/main" id="{D3CF6884-8479-49EA-9C75-703AFED5FA9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역할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작성하시나요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</a:t>
            </a:r>
            <a:r>
              <a:rPr lang="ko-KR" altLang="en-US" dirty="0">
                <a:highlight>
                  <a:srgbClr val="FFCD00"/>
                </a:highlight>
              </a:rPr>
              <a:t>작성</a:t>
            </a:r>
            <a:r>
              <a:rPr lang="ko-KR" altLang="en-US" dirty="0"/>
              <a:t>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FAEEE9-8D0E-4D17-A90F-EB25FF046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886" y="1807432"/>
            <a:ext cx="2170646" cy="21706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29FC6-9A03-4889-B8F3-D97B43E54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648" y="1420815"/>
            <a:ext cx="937652" cy="93765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D718551-10A0-444F-83C0-34975D277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914" y="2423928"/>
            <a:ext cx="937654" cy="9376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2B1DD8-D461-4B9E-94C3-7AFD0625E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9646" y="3516145"/>
            <a:ext cx="937654" cy="937654"/>
          </a:xfrm>
          <a:prstGeom prst="rect">
            <a:avLst/>
          </a:prstGeom>
        </p:spPr>
      </p:pic>
      <p:cxnSp>
        <p:nvCxnSpPr>
          <p:cNvPr id="19" name="Google Shape;138;p18">
            <a:extLst>
              <a:ext uri="{FF2B5EF4-FFF2-40B4-BE49-F238E27FC236}">
                <a16:creationId xmlns:a16="http://schemas.microsoft.com/office/drawing/2014/main" id="{0C7F8BFD-8201-45AF-8491-3AF9F2C45B2C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018532" y="1889641"/>
            <a:ext cx="1241116" cy="1003114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138;p18">
            <a:extLst>
              <a:ext uri="{FF2B5EF4-FFF2-40B4-BE49-F238E27FC236}">
                <a16:creationId xmlns:a16="http://schemas.microsoft.com/office/drawing/2014/main" id="{3C6F2529-F875-4205-89F3-5381D2E2C546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018532" y="2892755"/>
            <a:ext cx="2276382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Google Shape;138;p18">
            <a:extLst>
              <a:ext uri="{FF2B5EF4-FFF2-40B4-BE49-F238E27FC236}">
                <a16:creationId xmlns:a16="http://schemas.microsoft.com/office/drawing/2014/main" id="{DE2A6CFF-A7B0-4EE9-B311-722E3B6C027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018532" y="2892755"/>
            <a:ext cx="1241114" cy="1092217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9688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 공유 어떻게 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ko-KR" altLang="en-US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859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 </a:t>
            </a:r>
            <a:r>
              <a:rPr lang="ko-KR" altLang="en-US" dirty="0">
                <a:highlight>
                  <a:srgbClr val="FFCD00"/>
                </a:highlight>
              </a:rPr>
              <a:t>공유</a:t>
            </a:r>
            <a:r>
              <a:rPr lang="ko-KR" altLang="en-US" dirty="0"/>
              <a:t> 어떻게 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C8182-D534-4AE2-8F40-92AC384A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564" y="2400300"/>
            <a:ext cx="901768" cy="901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7885F8-F75E-4E95-AFAC-FDF143B0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35810" y="2246775"/>
            <a:ext cx="1066495" cy="106649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F8B51D-25BF-420E-BDC9-91419164B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35" y="2267656"/>
            <a:ext cx="984278" cy="9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2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ctrTitle" idx="4294967295"/>
          </p:nvPr>
        </p:nvSpPr>
        <p:spPr>
          <a:xfrm>
            <a:off x="1951575" y="2878750"/>
            <a:ext cx="5241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highlight>
                  <a:schemeClr val="accent1"/>
                </a:highlight>
              </a:rPr>
              <a:t>Big concept</a:t>
            </a:r>
            <a:endParaRPr sz="4800">
              <a:highlight>
                <a:schemeClr val="accent1"/>
              </a:highlight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-6025" y="1668728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" name="Google Shape;139;p18"/>
          <p:cNvSpPr/>
          <p:nvPr/>
        </p:nvSpPr>
        <p:spPr>
          <a:xfrm>
            <a:off x="3470200" y="566931"/>
            <a:ext cx="2203500" cy="2203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0" name="Google Shape;140;p18"/>
          <p:cNvGrpSpPr/>
          <p:nvPr/>
        </p:nvGrpSpPr>
        <p:grpSpPr>
          <a:xfrm>
            <a:off x="4184367" y="854983"/>
            <a:ext cx="1035173" cy="1035155"/>
            <a:chOff x="6643075" y="3664250"/>
            <a:chExt cx="407950" cy="407975"/>
          </a:xfrm>
        </p:grpSpPr>
        <p:sp>
          <p:nvSpPr>
            <p:cNvPr id="141" name="Google Shape;141;p1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8"/>
          <p:cNvGrpSpPr/>
          <p:nvPr/>
        </p:nvGrpSpPr>
        <p:grpSpPr>
          <a:xfrm rot="-587406">
            <a:off x="4123593" y="2025001"/>
            <a:ext cx="425594" cy="425570"/>
            <a:chOff x="576250" y="4319400"/>
            <a:chExt cx="442075" cy="442050"/>
          </a:xfrm>
        </p:grpSpPr>
        <p:sp>
          <p:nvSpPr>
            <p:cNvPr id="144" name="Google Shape;144;p1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18"/>
          <p:cNvSpPr/>
          <p:nvPr/>
        </p:nvSpPr>
        <p:spPr>
          <a:xfrm>
            <a:off x="3936800" y="1094079"/>
            <a:ext cx="161807" cy="154500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 rot="2697385">
            <a:off x="5003062" y="1885038"/>
            <a:ext cx="245621" cy="234528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97375" y="1751151"/>
            <a:ext cx="98383" cy="93976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 rot="1280154">
            <a:off x="3824697" y="1560092"/>
            <a:ext cx="98367" cy="93971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Version Control System (VCS)</a:t>
            </a:r>
            <a:endParaRPr dirty="0"/>
          </a:p>
        </p:txBody>
      </p:sp>
      <p:sp>
        <p:nvSpPr>
          <p:cNvPr id="171" name="Google Shape;171;p20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b="1" dirty="0">
                <a:highlight>
                  <a:schemeClr val="accent1"/>
                </a:highlight>
              </a:rPr>
              <a:t>Version Control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버전관리</a:t>
            </a:r>
            <a:endParaRPr lang="en-US" altLang="ko-KR" b="1" dirty="0">
              <a:highlight>
                <a:schemeClr val="accent1"/>
              </a:highlight>
            </a:endParaRPr>
          </a:p>
        </p:txBody>
      </p:sp>
      <p:sp>
        <p:nvSpPr>
          <p:cNvPr id="172" name="Google Shape;172;p20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Backup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백업</a:t>
            </a:r>
            <a:endParaRPr b="1" dirty="0">
              <a:highlight>
                <a:schemeClr val="accent1"/>
              </a:highlight>
            </a:endParaRPr>
          </a:p>
        </p:txBody>
      </p:sp>
      <p:sp>
        <p:nvSpPr>
          <p:cNvPr id="173" name="Google Shape;173;p20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Collaboration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협업</a:t>
            </a:r>
            <a:endParaRPr b="1" dirty="0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74" name="Google Shape;174;p2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75" name="Google Shape;175;p2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5BF82FE-5092-4039-9DAD-75FE55544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276" y="2891117"/>
            <a:ext cx="1439651" cy="14396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AA2468-CB76-412B-9514-F4F603CCC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0402" y="2929577"/>
            <a:ext cx="1317811" cy="13178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C5B9F8-5DEE-4605-A0A8-BB1C637C3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76" y="2944909"/>
            <a:ext cx="1244669" cy="12446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72" grpId="0" uiExpand="1" build="p"/>
      <p:bldP spid="17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왜 쓰는가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2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5" name="Google Shape;111;p15">
            <a:extLst>
              <a:ext uri="{FF2B5EF4-FFF2-40B4-BE49-F238E27FC236}">
                <a16:creationId xmlns:a16="http://schemas.microsoft.com/office/drawing/2014/main" id="{1C29DE63-7A70-45D4-BBFE-E5353DD0CA3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장점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391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692512-DCB1-4A1E-AA78-851F14F7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645" y="1714737"/>
            <a:ext cx="4153084" cy="29156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D5DC0-0654-4D87-BD22-B8C2FA33D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0" y="1714738"/>
            <a:ext cx="4140981" cy="2915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0575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692512-DCB1-4A1E-AA78-851F14F7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645" y="1714737"/>
            <a:ext cx="4153084" cy="29156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D5DC0-0654-4D87-BD22-B8C2FA33D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0" y="1714738"/>
            <a:ext cx="4140981" cy="2915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92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1026" name="Picture 2" descr="GitHub Download for Free - 2023 Latest Version">
            <a:extLst>
              <a:ext uri="{FF2B5EF4-FFF2-40B4-BE49-F238E27FC236}">
                <a16:creationId xmlns:a16="http://schemas.microsoft.com/office/drawing/2014/main" id="{08FB41F5-BDB8-4705-BF6B-0102C4B9F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446" y="2426530"/>
            <a:ext cx="1469422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Google Shape;207;p23">
            <a:extLst>
              <a:ext uri="{FF2B5EF4-FFF2-40B4-BE49-F238E27FC236}">
                <a16:creationId xmlns:a16="http://schemas.microsoft.com/office/drawing/2014/main" id="{D206D0F0-BF84-4861-935E-7B40B2F93573}"/>
              </a:ext>
            </a:extLst>
          </p:cNvPr>
          <p:cNvSpPr/>
          <p:nvPr/>
        </p:nvSpPr>
        <p:spPr>
          <a:xfrm>
            <a:off x="2974486" y="1412689"/>
            <a:ext cx="2399100" cy="239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Repository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저장소</a:t>
            </a:r>
            <a:endParaRPr lang="en-US" altLang="ko-KR" sz="18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로컬</a:t>
            </a:r>
            <a:r>
              <a:rPr lang="en-US" altLang="ko-KR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/</a:t>
            </a: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원격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028" name="Picture 4" descr="Press and Logos | GitLab">
            <a:extLst>
              <a:ext uri="{FF2B5EF4-FFF2-40B4-BE49-F238E27FC236}">
                <a16:creationId xmlns:a16="http://schemas.microsoft.com/office/drawing/2014/main" id="{34ACE0EE-86F3-4358-9DA6-328426144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988" y="2423274"/>
            <a:ext cx="2152598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itbucket, original, wordmark, logo Icon in Devicon">
            <a:extLst>
              <a:ext uri="{FF2B5EF4-FFF2-40B4-BE49-F238E27FC236}">
                <a16:creationId xmlns:a16="http://schemas.microsoft.com/office/drawing/2014/main" id="{BAB7DF37-DA55-4719-B941-BC60118F0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849" y="2413294"/>
            <a:ext cx="836529" cy="836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7801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FA1803-C528-4BD7-B04C-BFA4ABE9D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145" y="1466406"/>
            <a:ext cx="6768849" cy="3179949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98E6A5A-F834-430F-812C-B30B417B78B5}"/>
              </a:ext>
            </a:extLst>
          </p:cNvPr>
          <p:cNvSpPr/>
          <p:nvPr/>
        </p:nvSpPr>
        <p:spPr>
          <a:xfrm>
            <a:off x="1687606" y="1896036"/>
            <a:ext cx="914400" cy="363070"/>
          </a:xfrm>
          <a:prstGeom prst="ellips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BA36D28-6EFC-43E2-8B35-4CB1FE7570FF}"/>
              </a:ext>
            </a:extLst>
          </p:cNvPr>
          <p:cNvSpPr/>
          <p:nvPr/>
        </p:nvSpPr>
        <p:spPr>
          <a:xfrm>
            <a:off x="3825689" y="2991972"/>
            <a:ext cx="1882588" cy="3429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58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암호, Html, 인터넷, 컴퓨터, 편물, 디지털, 소프트웨어">
            <a:extLst>
              <a:ext uri="{FF2B5EF4-FFF2-40B4-BE49-F238E27FC236}">
                <a16:creationId xmlns:a16="http://schemas.microsoft.com/office/drawing/2014/main" id="{7A5AD091-42AA-4F56-9368-0CB4FBD25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352" y="1513623"/>
            <a:ext cx="4373466" cy="29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BA] 에러 처리 완벽 가이드">
            <a:extLst>
              <a:ext uri="{FF2B5EF4-FFF2-40B4-BE49-F238E27FC236}">
                <a16:creationId xmlns:a16="http://schemas.microsoft.com/office/drawing/2014/main" id="{EEA37E77-2A7A-44FD-9003-FFF2DF98A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389" y="1659781"/>
            <a:ext cx="4724060" cy="2659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사무실, 칸막이, 직원, 일하고있는, 기업, 내부, 남자들, 여성">
            <a:extLst>
              <a:ext uri="{FF2B5EF4-FFF2-40B4-BE49-F238E27FC236}">
                <a16:creationId xmlns:a16="http://schemas.microsoft.com/office/drawing/2014/main" id="{DEADF5D6-F8F5-4FEA-8C3D-C53989C66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6819" y="1580897"/>
            <a:ext cx="4301197" cy="2866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암호, 코딩, 컴퓨터, 데이터, 개발, 이더넷, Html">
            <a:extLst>
              <a:ext uri="{FF2B5EF4-FFF2-40B4-BE49-F238E27FC236}">
                <a16:creationId xmlns:a16="http://schemas.microsoft.com/office/drawing/2014/main" id="{B1EB2309-ED10-4514-B12F-31F3E955B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2199" y="1559065"/>
            <a:ext cx="4315817" cy="287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A32106C7-90BE-4067-9092-0CE6F4148FC5}"/>
              </a:ext>
            </a:extLst>
          </p:cNvPr>
          <p:cNvGrpSpPr/>
          <p:nvPr/>
        </p:nvGrpSpPr>
        <p:grpSpPr>
          <a:xfrm>
            <a:off x="5416598" y="1883995"/>
            <a:ext cx="1992599" cy="2457209"/>
            <a:chOff x="5416598" y="1883995"/>
            <a:chExt cx="1992599" cy="2457209"/>
          </a:xfrm>
        </p:grpSpPr>
        <p:grpSp>
          <p:nvGrpSpPr>
            <p:cNvPr id="21" name="Google Shape;1289;p49">
              <a:extLst>
                <a:ext uri="{FF2B5EF4-FFF2-40B4-BE49-F238E27FC236}">
                  <a16:creationId xmlns:a16="http://schemas.microsoft.com/office/drawing/2014/main" id="{405C55B5-0851-4180-BE4E-47F69B53ABE2}"/>
                </a:ext>
              </a:extLst>
            </p:cNvPr>
            <p:cNvGrpSpPr/>
            <p:nvPr/>
          </p:nvGrpSpPr>
          <p:grpSpPr>
            <a:xfrm>
              <a:off x="5416598" y="1883995"/>
              <a:ext cx="1992599" cy="2457209"/>
              <a:chOff x="1582665" y="1011072"/>
              <a:chExt cx="584040" cy="720220"/>
            </a:xfrm>
          </p:grpSpPr>
          <p:sp>
            <p:nvSpPr>
              <p:cNvPr id="22" name="Google Shape;1290;p49">
                <a:extLst>
                  <a:ext uri="{FF2B5EF4-FFF2-40B4-BE49-F238E27FC236}">
                    <a16:creationId xmlns:a16="http://schemas.microsoft.com/office/drawing/2014/main" id="{41B62FFC-6F2F-4CB7-8C1C-75525892736D}"/>
                  </a:ext>
                </a:extLst>
              </p:cNvPr>
              <p:cNvSpPr/>
              <p:nvPr/>
            </p:nvSpPr>
            <p:spPr>
              <a:xfrm>
                <a:off x="1638485" y="1571653"/>
                <a:ext cx="449564" cy="159640"/>
              </a:xfrm>
              <a:custGeom>
                <a:avLst/>
                <a:gdLst/>
                <a:ahLst/>
                <a:cxnLst/>
                <a:rect l="l" t="t" r="r" b="b"/>
                <a:pathLst>
                  <a:path w="767" h="273" extrusionOk="0">
                    <a:moveTo>
                      <a:pt x="8" y="71"/>
                    </a:moveTo>
                    <a:cubicBezTo>
                      <a:pt x="26" y="131"/>
                      <a:pt x="228" y="66"/>
                      <a:pt x="244" y="81"/>
                    </a:cubicBezTo>
                    <a:cubicBezTo>
                      <a:pt x="269" y="104"/>
                      <a:pt x="240" y="171"/>
                      <a:pt x="254" y="194"/>
                    </a:cubicBezTo>
                    <a:cubicBezTo>
                      <a:pt x="274" y="228"/>
                      <a:pt x="588" y="273"/>
                      <a:pt x="743" y="165"/>
                    </a:cubicBezTo>
                    <a:cubicBezTo>
                      <a:pt x="767" y="149"/>
                      <a:pt x="749" y="103"/>
                      <a:pt x="751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0" y="17"/>
                      <a:pt x="0" y="43"/>
                      <a:pt x="8" y="71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3" name="Google Shape;1291;p49">
                <a:extLst>
                  <a:ext uri="{FF2B5EF4-FFF2-40B4-BE49-F238E27FC236}">
                    <a16:creationId xmlns:a16="http://schemas.microsoft.com/office/drawing/2014/main" id="{62B50102-7AF8-4332-94CD-99C73ED4D303}"/>
                  </a:ext>
                </a:extLst>
              </p:cNvPr>
              <p:cNvSpPr/>
              <p:nvPr/>
            </p:nvSpPr>
            <p:spPr>
              <a:xfrm>
                <a:off x="1590507" y="1435245"/>
                <a:ext cx="515072" cy="136407"/>
              </a:xfrm>
              <a:custGeom>
                <a:avLst/>
                <a:gdLst/>
                <a:ahLst/>
                <a:cxnLst/>
                <a:rect l="l" t="t" r="r" b="b"/>
                <a:pathLst>
                  <a:path w="879" h="233" extrusionOk="0">
                    <a:moveTo>
                      <a:pt x="75" y="52"/>
                    </a:moveTo>
                    <a:cubicBezTo>
                      <a:pt x="81" y="64"/>
                      <a:pt x="64" y="89"/>
                      <a:pt x="66" y="104"/>
                    </a:cubicBezTo>
                    <a:cubicBezTo>
                      <a:pt x="68" y="117"/>
                      <a:pt x="105" y="132"/>
                      <a:pt x="105" y="132"/>
                    </a:cubicBezTo>
                    <a:cubicBezTo>
                      <a:pt x="105" y="132"/>
                      <a:pt x="78" y="157"/>
                      <a:pt x="77" y="169"/>
                    </a:cubicBezTo>
                    <a:cubicBezTo>
                      <a:pt x="76" y="182"/>
                      <a:pt x="101" y="204"/>
                      <a:pt x="101" y="218"/>
                    </a:cubicBezTo>
                    <a:cubicBezTo>
                      <a:pt x="102" y="221"/>
                      <a:pt x="100" y="227"/>
                      <a:pt x="98" y="233"/>
                    </a:cubicBezTo>
                    <a:cubicBezTo>
                      <a:pt x="833" y="233"/>
                      <a:pt x="833" y="233"/>
                      <a:pt x="833" y="233"/>
                    </a:cubicBezTo>
                    <a:cubicBezTo>
                      <a:pt x="834" y="202"/>
                      <a:pt x="837" y="167"/>
                      <a:pt x="843" y="126"/>
                    </a:cubicBezTo>
                    <a:cubicBezTo>
                      <a:pt x="850" y="80"/>
                      <a:pt x="863" y="39"/>
                      <a:pt x="87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2" y="20"/>
                      <a:pt x="65" y="34"/>
                      <a:pt x="75" y="52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4" name="Google Shape;1292;p49">
                <a:extLst>
                  <a:ext uri="{FF2B5EF4-FFF2-40B4-BE49-F238E27FC236}">
                    <a16:creationId xmlns:a16="http://schemas.microsoft.com/office/drawing/2014/main" id="{80154455-9AA6-45F3-9BD7-38DAE8C1F104}"/>
                  </a:ext>
                </a:extLst>
              </p:cNvPr>
              <p:cNvSpPr/>
              <p:nvPr/>
            </p:nvSpPr>
            <p:spPr>
              <a:xfrm>
                <a:off x="1582665" y="1299068"/>
                <a:ext cx="576890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984" h="233" extrusionOk="0">
                    <a:moveTo>
                      <a:pt x="984" y="0"/>
                    </a:moveTo>
                    <a:cubicBezTo>
                      <a:pt x="119" y="0"/>
                      <a:pt x="119" y="0"/>
                      <a:pt x="119" y="0"/>
                    </a:cubicBezTo>
                    <a:cubicBezTo>
                      <a:pt x="121" y="7"/>
                      <a:pt x="122" y="14"/>
                      <a:pt x="121" y="20"/>
                    </a:cubicBezTo>
                    <a:cubicBezTo>
                      <a:pt x="115" y="71"/>
                      <a:pt x="3" y="151"/>
                      <a:pt x="1" y="207"/>
                    </a:cubicBezTo>
                    <a:cubicBezTo>
                      <a:pt x="0" y="217"/>
                      <a:pt x="5" y="225"/>
                      <a:pt x="13" y="233"/>
                    </a:cubicBezTo>
                    <a:cubicBezTo>
                      <a:pt x="892" y="233"/>
                      <a:pt x="892" y="233"/>
                      <a:pt x="892" y="233"/>
                    </a:cubicBezTo>
                    <a:cubicBezTo>
                      <a:pt x="910" y="190"/>
                      <a:pt x="932" y="150"/>
                      <a:pt x="954" y="106"/>
                    </a:cubicBezTo>
                    <a:cubicBezTo>
                      <a:pt x="965" y="83"/>
                      <a:pt x="977" y="45"/>
                      <a:pt x="984" y="0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5" name="Google Shape;1293;p49">
                <a:extLst>
                  <a:ext uri="{FF2B5EF4-FFF2-40B4-BE49-F238E27FC236}">
                    <a16:creationId xmlns:a16="http://schemas.microsoft.com/office/drawing/2014/main" id="{6A4A9779-73B3-493A-96D0-889F14010846}"/>
                  </a:ext>
                </a:extLst>
              </p:cNvPr>
              <p:cNvSpPr/>
              <p:nvPr/>
            </p:nvSpPr>
            <p:spPr>
              <a:xfrm>
                <a:off x="1665934" y="1011072"/>
                <a:ext cx="484393" cy="151589"/>
              </a:xfrm>
              <a:custGeom>
                <a:avLst/>
                <a:gdLst/>
                <a:ahLst/>
                <a:cxnLst/>
                <a:rect l="l" t="t" r="r" b="b"/>
                <a:pathLst>
                  <a:path w="826" h="259" extrusionOk="0">
                    <a:moveTo>
                      <a:pt x="691" y="105"/>
                    </a:moveTo>
                    <a:cubicBezTo>
                      <a:pt x="485" y="0"/>
                      <a:pt x="280" y="20"/>
                      <a:pt x="171" y="77"/>
                    </a:cubicBezTo>
                    <a:cubicBezTo>
                      <a:pt x="84" y="123"/>
                      <a:pt x="31" y="190"/>
                      <a:pt x="0" y="259"/>
                    </a:cubicBezTo>
                    <a:cubicBezTo>
                      <a:pt x="826" y="259"/>
                      <a:pt x="826" y="259"/>
                      <a:pt x="826" y="259"/>
                    </a:cubicBezTo>
                    <a:cubicBezTo>
                      <a:pt x="803" y="196"/>
                      <a:pt x="762" y="140"/>
                      <a:pt x="691" y="10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6" name="Google Shape;1294;p49">
                <a:extLst>
                  <a:ext uri="{FF2B5EF4-FFF2-40B4-BE49-F238E27FC236}">
                    <a16:creationId xmlns:a16="http://schemas.microsoft.com/office/drawing/2014/main" id="{FFDEE380-5DE6-4679-808B-BC8482EA545D}"/>
                  </a:ext>
                </a:extLst>
              </p:cNvPr>
              <p:cNvSpPr/>
              <p:nvPr/>
            </p:nvSpPr>
            <p:spPr>
              <a:xfrm>
                <a:off x="1639639" y="1162661"/>
                <a:ext cx="527066" cy="136407"/>
              </a:xfrm>
              <a:custGeom>
                <a:avLst/>
                <a:gdLst/>
                <a:ahLst/>
                <a:cxnLst/>
                <a:rect l="l" t="t" r="r" b="b"/>
                <a:pathLst>
                  <a:path w="899" h="233" extrusionOk="0">
                    <a:moveTo>
                      <a:pt x="871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20" y="53"/>
                      <a:pt x="9" y="106"/>
                      <a:pt x="4" y="150"/>
                    </a:cubicBezTo>
                    <a:cubicBezTo>
                      <a:pt x="0" y="184"/>
                      <a:pt x="15" y="210"/>
                      <a:pt x="22" y="233"/>
                    </a:cubicBezTo>
                    <a:cubicBezTo>
                      <a:pt x="887" y="233"/>
                      <a:pt x="887" y="233"/>
                      <a:pt x="887" y="233"/>
                    </a:cubicBezTo>
                    <a:cubicBezTo>
                      <a:pt x="898" y="163"/>
                      <a:pt x="899" y="77"/>
                      <a:pt x="871" y="0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A8C1F21-15FA-4844-B3DC-377823E1190E}"/>
                </a:ext>
              </a:extLst>
            </p:cNvPr>
            <p:cNvSpPr txBox="1"/>
            <p:nvPr/>
          </p:nvSpPr>
          <p:spPr>
            <a:xfrm>
              <a:off x="6192329" y="2574827"/>
              <a:ext cx="534121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600" b="1" dirty="0">
                  <a:latin typeface="Quattrocento Sans" panose="020B0600000101010101" charset="0"/>
                </a:rPr>
                <a:t>?</a:t>
              </a:r>
              <a:endParaRPr lang="ko-KR" altLang="en-US" sz="6600" b="1" dirty="0">
                <a:latin typeface="Quattrocento Sans" panose="020B0600000101010101" charset="0"/>
              </a:endParaRPr>
            </a:p>
          </p:txBody>
        </p:sp>
      </p:grpSp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왜 쓰는가</a:t>
            </a:r>
            <a:r>
              <a:rPr lang="en-US" altLang="ko-KR" dirty="0"/>
              <a:t>? [</a:t>
            </a:r>
            <a:r>
              <a:rPr lang="ko-KR" altLang="en-US" dirty="0"/>
              <a:t>개발자 시점</a:t>
            </a:r>
            <a:r>
              <a:rPr lang="en-US" altLang="ko-KR" dirty="0"/>
              <a:t>] 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12" name="Google Shape;125;p17">
            <a:extLst>
              <a:ext uri="{FF2B5EF4-FFF2-40B4-BE49-F238E27FC236}">
                <a16:creationId xmlns:a16="http://schemas.microsoft.com/office/drawing/2014/main" id="{890E7DC4-E43C-47C3-9207-83A72F3EDA74}"/>
              </a:ext>
            </a:extLst>
          </p:cNvPr>
          <p:cNvSpPr txBox="1">
            <a:spLocks/>
          </p:cNvSpPr>
          <p:nvPr/>
        </p:nvSpPr>
        <p:spPr>
          <a:xfrm>
            <a:off x="157390" y="1719050"/>
            <a:ext cx="3400801" cy="34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프로그램에 에러 발생했다면</a:t>
            </a:r>
            <a:r>
              <a:rPr lang="en-US" altLang="ko-KR" sz="1400" dirty="0"/>
              <a:t>?</a:t>
            </a:r>
          </a:p>
        </p:txBody>
      </p:sp>
      <p:sp>
        <p:nvSpPr>
          <p:cNvPr id="14" name="Google Shape;125;p17">
            <a:extLst>
              <a:ext uri="{FF2B5EF4-FFF2-40B4-BE49-F238E27FC236}">
                <a16:creationId xmlns:a16="http://schemas.microsoft.com/office/drawing/2014/main" id="{90CE228E-2E1D-442A-AF98-DDFF11FA8979}"/>
              </a:ext>
            </a:extLst>
          </p:cNvPr>
          <p:cNvSpPr txBox="1">
            <a:spLocks/>
          </p:cNvSpPr>
          <p:nvPr/>
        </p:nvSpPr>
        <p:spPr>
          <a:xfrm>
            <a:off x="157390" y="2732613"/>
            <a:ext cx="3400801" cy="5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누가 짠 건지 출처 불명이라면</a:t>
            </a:r>
            <a:r>
              <a:rPr lang="en-US" altLang="ko-KR" sz="1400" dirty="0"/>
              <a:t>?</a:t>
            </a:r>
          </a:p>
        </p:txBody>
      </p:sp>
      <p:sp>
        <p:nvSpPr>
          <p:cNvPr id="15" name="Google Shape;125;p17">
            <a:extLst>
              <a:ext uri="{FF2B5EF4-FFF2-40B4-BE49-F238E27FC236}">
                <a16:creationId xmlns:a16="http://schemas.microsoft.com/office/drawing/2014/main" id="{055D7D95-648E-4F34-ABE5-55B89E18F795}"/>
              </a:ext>
            </a:extLst>
          </p:cNvPr>
          <p:cNvSpPr txBox="1">
            <a:spLocks/>
          </p:cNvSpPr>
          <p:nvPr/>
        </p:nvSpPr>
        <p:spPr>
          <a:xfrm>
            <a:off x="157390" y="2350630"/>
            <a:ext cx="3400801" cy="34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똑같은 코드를 </a:t>
            </a:r>
            <a:r>
              <a:rPr lang="ko-KR" altLang="en-US" sz="1400" dirty="0" err="1"/>
              <a:t>여러명이</a:t>
            </a:r>
            <a:r>
              <a:rPr lang="ko-KR" altLang="en-US" sz="1400" dirty="0"/>
              <a:t> 동시에 수정했다면</a:t>
            </a:r>
            <a:r>
              <a:rPr lang="en-US" altLang="ko-KR" sz="1400" dirty="0"/>
              <a:t>?</a:t>
            </a:r>
          </a:p>
        </p:txBody>
      </p:sp>
      <p:sp>
        <p:nvSpPr>
          <p:cNvPr id="18" name="Google Shape;125;p17">
            <a:extLst>
              <a:ext uri="{FF2B5EF4-FFF2-40B4-BE49-F238E27FC236}">
                <a16:creationId xmlns:a16="http://schemas.microsoft.com/office/drawing/2014/main" id="{9EF2B8DD-FD27-460B-9590-6CCE132CFD30}"/>
              </a:ext>
            </a:extLst>
          </p:cNvPr>
          <p:cNvSpPr txBox="1">
            <a:spLocks/>
          </p:cNvSpPr>
          <p:nvPr/>
        </p:nvSpPr>
        <p:spPr>
          <a:xfrm>
            <a:off x="157389" y="3300266"/>
            <a:ext cx="3400801" cy="5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소스 코드를 합칠 때 추가된 코드만</a:t>
            </a:r>
            <a:r>
              <a:rPr lang="en-US" altLang="ko-KR" sz="1400" dirty="0"/>
              <a:t> 1</a:t>
            </a:r>
            <a:r>
              <a:rPr lang="ko-KR" altLang="en-US" sz="1400" dirty="0"/>
              <a:t>만 줄이 넘으면</a:t>
            </a:r>
            <a:r>
              <a:rPr lang="en-US" altLang="ko-KR" sz="1400" dirty="0"/>
              <a:t>?</a:t>
            </a:r>
          </a:p>
        </p:txBody>
      </p:sp>
      <p:pic>
        <p:nvPicPr>
          <p:cNvPr id="1032" name="Picture 8" descr="멘붕에 빠지게 되는 4단계 &amp; 멘붕 탈출법">
            <a:extLst>
              <a:ext uri="{FF2B5EF4-FFF2-40B4-BE49-F238E27FC236}">
                <a16:creationId xmlns:a16="http://schemas.microsoft.com/office/drawing/2014/main" id="{72EADC77-D19A-45A4-933E-3B618A9F8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77" y="852495"/>
            <a:ext cx="5444602" cy="3847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19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3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0088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1317812" y="1503428"/>
            <a:ext cx="6508376" cy="10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>
                <a:highlight>
                  <a:srgbClr val="FFCD00"/>
                </a:highlight>
              </a:rPr>
              <a:t>프로젝트</a:t>
            </a:r>
            <a:r>
              <a:rPr lang="en-US" altLang="ko-KR" sz="4000" b="1" dirty="0">
                <a:highlight>
                  <a:srgbClr val="FFCD00"/>
                </a:highlight>
              </a:rPr>
              <a:t> : </a:t>
            </a:r>
            <a:r>
              <a:rPr lang="ko-KR" altLang="en-US" sz="4000" b="1" dirty="0">
                <a:highlight>
                  <a:srgbClr val="FFCD00"/>
                </a:highlight>
              </a:rPr>
              <a:t>업그레이드</a:t>
            </a:r>
            <a:endParaRPr lang="en-US" altLang="ko-KR" sz="40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17" name="Google Shape;172;p20">
            <a:extLst>
              <a:ext uri="{FF2B5EF4-FFF2-40B4-BE49-F238E27FC236}">
                <a16:creationId xmlns:a16="http://schemas.microsoft.com/office/drawing/2014/main" id="{0BC4577D-C897-4BA9-916B-92E07DB1F97D}"/>
              </a:ext>
            </a:extLst>
          </p:cNvPr>
          <p:cNvSpPr txBox="1">
            <a:spLocks/>
          </p:cNvSpPr>
          <p:nvPr/>
        </p:nvSpPr>
        <p:spPr>
          <a:xfrm>
            <a:off x="3414580" y="2841718"/>
            <a:ext cx="2727254" cy="1912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>
                <a:highlight>
                  <a:srgbClr val="FFCD00"/>
                </a:highlight>
              </a:rPr>
              <a:t>요구사항명세서</a:t>
            </a:r>
            <a:endParaRPr lang="en-US" altLang="ko-KR" b="1" dirty="0">
              <a:highlight>
                <a:srgbClr val="FFCD00"/>
              </a:highlight>
            </a:endParaRP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메시지 검색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선물하기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친구 리스트 </a:t>
            </a:r>
            <a:r>
              <a:rPr lang="ko-KR" altLang="en-US" b="1" dirty="0" err="1">
                <a:latin typeface="+mn-ea"/>
                <a:ea typeface="+mn-ea"/>
              </a:rPr>
              <a:t>ㄱㄴㄷ</a:t>
            </a:r>
            <a:r>
              <a:rPr lang="ko-KR" altLang="en-US" b="1" dirty="0">
                <a:latin typeface="+mn-ea"/>
                <a:ea typeface="+mn-ea"/>
              </a:rPr>
              <a:t> </a:t>
            </a:r>
            <a:r>
              <a:rPr lang="ko-KR" altLang="en-US" b="1" dirty="0"/>
              <a:t>순 정렬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버그 수정</a:t>
            </a:r>
            <a:r>
              <a:rPr lang="en-US" altLang="ko-KR" b="1" dirty="0"/>
              <a:t>: </a:t>
            </a:r>
            <a:r>
              <a:rPr lang="ko-KR" altLang="en-US" b="1" dirty="0"/>
              <a:t>알림 안됨</a:t>
            </a:r>
            <a:endParaRPr lang="en-US" altLang="ko-KR" b="1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CDA998F4-F0FD-414B-B092-1A018A2FD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97" y="2729144"/>
            <a:ext cx="1923187" cy="1923187"/>
          </a:xfrm>
          <a:prstGeom prst="rect">
            <a:avLst/>
          </a:prstGeom>
        </p:spPr>
      </p:pic>
      <p:sp>
        <p:nvSpPr>
          <p:cNvPr id="22" name="Google Shape;172;p20">
            <a:extLst>
              <a:ext uri="{FF2B5EF4-FFF2-40B4-BE49-F238E27FC236}">
                <a16:creationId xmlns:a16="http://schemas.microsoft.com/office/drawing/2014/main" id="{689F8208-45D0-4A8D-A090-4FC01108AF85}"/>
              </a:ext>
            </a:extLst>
          </p:cNvPr>
          <p:cNvSpPr txBox="1">
            <a:spLocks/>
          </p:cNvSpPr>
          <p:nvPr/>
        </p:nvSpPr>
        <p:spPr>
          <a:xfrm>
            <a:off x="1044652" y="2317325"/>
            <a:ext cx="1781476" cy="95440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/>
              <a:t>메시지 검색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선물하기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친구 리스트 </a:t>
            </a:r>
            <a:r>
              <a:rPr lang="ko-KR" altLang="en-US" b="1" dirty="0">
                <a:latin typeface="+mn-ea"/>
                <a:ea typeface="+mn-ea"/>
              </a:rPr>
              <a:t>정렬 </a:t>
            </a:r>
            <a:r>
              <a:rPr lang="en-US" altLang="ko-KR" b="1" dirty="0">
                <a:latin typeface="+mn-ea"/>
                <a:ea typeface="+mn-ea"/>
              </a:rPr>
              <a:t>X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FF5E7-49B1-464A-880B-6CFD66EC689D}"/>
              </a:ext>
            </a:extLst>
          </p:cNvPr>
          <p:cNvSpPr txBox="1"/>
          <p:nvPr/>
        </p:nvSpPr>
        <p:spPr>
          <a:xfrm>
            <a:off x="1633865" y="4362209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1.0</a:t>
            </a: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5E852AE-EE87-4710-A6E8-0AD7E1DE4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74" y="2729143"/>
            <a:ext cx="1923187" cy="19231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1CE0946-57F1-45C5-B742-4FF562965D51}"/>
              </a:ext>
            </a:extLst>
          </p:cNvPr>
          <p:cNvSpPr txBox="1"/>
          <p:nvPr/>
        </p:nvSpPr>
        <p:spPr>
          <a:xfrm>
            <a:off x="7014305" y="4362208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2.0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817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3" grpId="0" build="p"/>
      <p:bldP spid="17" grpId="0"/>
      <p:bldP spid="22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graphicFrame>
        <p:nvGraphicFramePr>
          <p:cNvPr id="29" name="Google Shape;768;p47">
            <a:extLst>
              <a:ext uri="{FF2B5EF4-FFF2-40B4-BE49-F238E27FC236}">
                <a16:creationId xmlns:a16="http://schemas.microsoft.com/office/drawing/2014/main" id="{77976F4C-30A9-4E29-8881-846CBD7768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1015932"/>
              </p:ext>
            </p:extLst>
          </p:nvPr>
        </p:nvGraphicFramePr>
        <p:xfrm>
          <a:off x="988509" y="2105178"/>
          <a:ext cx="7166982" cy="2030614"/>
        </p:xfrm>
        <a:graphic>
          <a:graphicData uri="http://schemas.openxmlformats.org/drawingml/2006/table">
            <a:tbl>
              <a:tblPr>
                <a:noFill/>
                <a:tableStyleId>{FD83C8C0-4F54-423C-8FE9-BE38F65F2308}</a:tableStyleId>
              </a:tblPr>
              <a:tblGrid>
                <a:gridCol w="1064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376640264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5919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카카오톡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V 1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.0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0818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담당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Origi</a:t>
                      </a:r>
                      <a:r>
                        <a:rPr lang="en-US" altLang="ko-KR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nal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검색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선물하기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친구 리스트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정렬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도착 알림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버그 수정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7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Master Branch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1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2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3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4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0" name="Google Shape;1560;p49">
            <a:extLst>
              <a:ext uri="{FF2B5EF4-FFF2-40B4-BE49-F238E27FC236}">
                <a16:creationId xmlns:a16="http://schemas.microsoft.com/office/drawing/2014/main" id="{F1A2C556-2184-4C6C-9239-D58CC8514532}"/>
              </a:ext>
            </a:extLst>
          </p:cNvPr>
          <p:cNvGrpSpPr/>
          <p:nvPr/>
        </p:nvGrpSpPr>
        <p:grpSpPr>
          <a:xfrm>
            <a:off x="5259650" y="495461"/>
            <a:ext cx="445681" cy="400651"/>
            <a:chOff x="9626723" y="5526313"/>
            <a:chExt cx="720002" cy="647256"/>
          </a:xfrm>
        </p:grpSpPr>
        <p:sp>
          <p:nvSpPr>
            <p:cNvPr id="31" name="Google Shape;1561;p49">
              <a:extLst>
                <a:ext uri="{FF2B5EF4-FFF2-40B4-BE49-F238E27FC236}">
                  <a16:creationId xmlns:a16="http://schemas.microsoft.com/office/drawing/2014/main" id="{68CACFCF-B6DB-4B27-B845-3DF3D2ADACFC}"/>
                </a:ext>
              </a:extLst>
            </p:cNvPr>
            <p:cNvSpPr/>
            <p:nvPr/>
          </p:nvSpPr>
          <p:spPr>
            <a:xfrm>
              <a:off x="10040990" y="5526317"/>
              <a:ext cx="168000" cy="16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2" name="Google Shape;1562;p49">
              <a:extLst>
                <a:ext uri="{FF2B5EF4-FFF2-40B4-BE49-F238E27FC236}">
                  <a16:creationId xmlns:a16="http://schemas.microsoft.com/office/drawing/2014/main" id="{A3A378F4-2030-4998-A924-7E7E0E1D39D6}"/>
                </a:ext>
              </a:extLst>
            </p:cNvPr>
            <p:cNvSpPr/>
            <p:nvPr/>
          </p:nvSpPr>
          <p:spPr>
            <a:xfrm>
              <a:off x="9765139" y="5526313"/>
              <a:ext cx="168300" cy="168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3" name="Google Shape;1563;p49">
              <a:extLst>
                <a:ext uri="{FF2B5EF4-FFF2-40B4-BE49-F238E27FC236}">
                  <a16:creationId xmlns:a16="http://schemas.microsoft.com/office/drawing/2014/main" id="{9E7529BD-4268-4046-9DFB-B5C2BCB38A09}"/>
                </a:ext>
              </a:extLst>
            </p:cNvPr>
            <p:cNvSpPr/>
            <p:nvPr/>
          </p:nvSpPr>
          <p:spPr>
            <a:xfrm>
              <a:off x="10040990" y="6005269"/>
              <a:ext cx="168000" cy="168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4" name="Google Shape;1564;p49">
              <a:extLst>
                <a:ext uri="{FF2B5EF4-FFF2-40B4-BE49-F238E27FC236}">
                  <a16:creationId xmlns:a16="http://schemas.microsoft.com/office/drawing/2014/main" id="{97BCACCC-06F3-4E0F-8734-7D20FF20A56C}"/>
                </a:ext>
              </a:extLst>
            </p:cNvPr>
            <p:cNvSpPr/>
            <p:nvPr/>
          </p:nvSpPr>
          <p:spPr>
            <a:xfrm>
              <a:off x="10178425" y="5765496"/>
              <a:ext cx="168300" cy="168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5" name="Google Shape;1565;p49">
              <a:extLst>
                <a:ext uri="{FF2B5EF4-FFF2-40B4-BE49-F238E27FC236}">
                  <a16:creationId xmlns:a16="http://schemas.microsoft.com/office/drawing/2014/main" id="{026B09E2-3431-4622-8DA0-4027A9167617}"/>
                </a:ext>
              </a:extLst>
            </p:cNvPr>
            <p:cNvSpPr/>
            <p:nvPr/>
          </p:nvSpPr>
          <p:spPr>
            <a:xfrm>
              <a:off x="9626723" y="5765496"/>
              <a:ext cx="168000" cy="16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6" name="Google Shape;1566;p49">
              <a:extLst>
                <a:ext uri="{FF2B5EF4-FFF2-40B4-BE49-F238E27FC236}">
                  <a16:creationId xmlns:a16="http://schemas.microsoft.com/office/drawing/2014/main" id="{9998F4A5-EF0D-4DE6-BAFE-71B266C9353A}"/>
                </a:ext>
              </a:extLst>
            </p:cNvPr>
            <p:cNvSpPr/>
            <p:nvPr/>
          </p:nvSpPr>
          <p:spPr>
            <a:xfrm>
              <a:off x="9765139" y="6005269"/>
              <a:ext cx="168300" cy="1683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7" name="Google Shape;1567;p49">
              <a:extLst>
                <a:ext uri="{FF2B5EF4-FFF2-40B4-BE49-F238E27FC236}">
                  <a16:creationId xmlns:a16="http://schemas.microsoft.com/office/drawing/2014/main" id="{3EEB67F7-5DA1-4899-A326-40431FAAB281}"/>
                </a:ext>
              </a:extLst>
            </p:cNvPr>
            <p:cNvSpPr/>
            <p:nvPr/>
          </p:nvSpPr>
          <p:spPr>
            <a:xfrm>
              <a:off x="10198227" y="5672808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0" y="0"/>
                  </a:moveTo>
                  <a:cubicBezTo>
                    <a:pt x="20" y="23"/>
                    <a:pt x="38" y="49"/>
                    <a:pt x="54" y="77"/>
                  </a:cubicBezTo>
                  <a:cubicBezTo>
                    <a:pt x="70" y="105"/>
                    <a:pt x="83" y="134"/>
                    <a:pt x="94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8" name="Google Shape;1568;p49">
              <a:extLst>
                <a:ext uri="{FF2B5EF4-FFF2-40B4-BE49-F238E27FC236}">
                  <a16:creationId xmlns:a16="http://schemas.microsoft.com/office/drawing/2014/main" id="{E005FD7B-0398-400E-9929-490362BF5D41}"/>
                </a:ext>
              </a:extLst>
            </p:cNvPr>
            <p:cNvSpPr/>
            <p:nvPr/>
          </p:nvSpPr>
          <p:spPr>
            <a:xfrm>
              <a:off x="10197835" y="594458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95" y="0"/>
                  </a:moveTo>
                  <a:cubicBezTo>
                    <a:pt x="84" y="29"/>
                    <a:pt x="71" y="58"/>
                    <a:pt x="55" y="85"/>
                  </a:cubicBezTo>
                  <a:cubicBezTo>
                    <a:pt x="39" y="113"/>
                    <a:pt x="20" y="139"/>
                    <a:pt x="0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9" name="Google Shape;1569;p49">
              <a:extLst>
                <a:ext uri="{FF2B5EF4-FFF2-40B4-BE49-F238E27FC236}">
                  <a16:creationId xmlns:a16="http://schemas.microsoft.com/office/drawing/2014/main" id="{EEF3F7B3-69BD-44F4-8D57-7D69A4E99365}"/>
                </a:ext>
              </a:extLst>
            </p:cNvPr>
            <p:cNvSpPr/>
            <p:nvPr/>
          </p:nvSpPr>
          <p:spPr>
            <a:xfrm>
              <a:off x="9938649" y="6122111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189" y="0"/>
                  </a:moveTo>
                  <a:cubicBezTo>
                    <a:pt x="158" y="5"/>
                    <a:pt x="127" y="8"/>
                    <a:pt x="95" y="8"/>
                  </a:cubicBezTo>
                  <a:cubicBezTo>
                    <a:pt x="63" y="8"/>
                    <a:pt x="31" y="5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0" name="Google Shape;1570;p49">
              <a:extLst>
                <a:ext uri="{FF2B5EF4-FFF2-40B4-BE49-F238E27FC236}">
                  <a16:creationId xmlns:a16="http://schemas.microsoft.com/office/drawing/2014/main" id="{4CCEA33E-D20F-4DB3-8C53-008439031A0C}"/>
                </a:ext>
              </a:extLst>
            </p:cNvPr>
            <p:cNvSpPr/>
            <p:nvPr/>
          </p:nvSpPr>
          <p:spPr>
            <a:xfrm>
              <a:off x="9728084" y="5944196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94" y="163"/>
                  </a:moveTo>
                  <a:cubicBezTo>
                    <a:pt x="74" y="140"/>
                    <a:pt x="56" y="114"/>
                    <a:pt x="40" y="86"/>
                  </a:cubicBezTo>
                  <a:cubicBezTo>
                    <a:pt x="24" y="58"/>
                    <a:pt x="11" y="30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1" name="Google Shape;1571;p49">
              <a:extLst>
                <a:ext uri="{FF2B5EF4-FFF2-40B4-BE49-F238E27FC236}">
                  <a16:creationId xmlns:a16="http://schemas.microsoft.com/office/drawing/2014/main" id="{F9947260-687D-4815-9FD6-0CF0D89C5CF1}"/>
                </a:ext>
              </a:extLst>
            </p:cNvPr>
            <p:cNvSpPr/>
            <p:nvPr/>
          </p:nvSpPr>
          <p:spPr>
            <a:xfrm>
              <a:off x="9728084" y="567221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0" y="163"/>
                  </a:moveTo>
                  <a:cubicBezTo>
                    <a:pt x="11" y="134"/>
                    <a:pt x="24" y="106"/>
                    <a:pt x="40" y="78"/>
                  </a:cubicBezTo>
                  <a:cubicBezTo>
                    <a:pt x="56" y="50"/>
                    <a:pt x="75" y="24"/>
                    <a:pt x="95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2" name="Google Shape;1572;p49">
              <a:extLst>
                <a:ext uri="{FF2B5EF4-FFF2-40B4-BE49-F238E27FC236}">
                  <a16:creationId xmlns:a16="http://schemas.microsoft.com/office/drawing/2014/main" id="{99979AFF-ED73-41F7-A13C-8491AB1FAE47}"/>
                </a:ext>
              </a:extLst>
            </p:cNvPr>
            <p:cNvSpPr/>
            <p:nvPr/>
          </p:nvSpPr>
          <p:spPr>
            <a:xfrm>
              <a:off x="9939237" y="5573835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0" y="8"/>
                  </a:moveTo>
                  <a:cubicBezTo>
                    <a:pt x="31" y="3"/>
                    <a:pt x="62" y="0"/>
                    <a:pt x="94" y="0"/>
                  </a:cubicBezTo>
                  <a:cubicBezTo>
                    <a:pt x="126" y="0"/>
                    <a:pt x="158" y="3"/>
                    <a:pt x="189" y="8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7965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750;p46">
            <a:extLst>
              <a:ext uri="{FF2B5EF4-FFF2-40B4-BE49-F238E27FC236}">
                <a16:creationId xmlns:a16="http://schemas.microsoft.com/office/drawing/2014/main" id="{8DE61A09-0ED4-49FD-AA1B-C5C36AF7CF79}"/>
              </a:ext>
            </a:extLst>
          </p:cNvPr>
          <p:cNvCxnSpPr>
            <a:cxnSpLocks/>
          </p:cNvCxnSpPr>
          <p:nvPr/>
        </p:nvCxnSpPr>
        <p:spPr>
          <a:xfrm flipH="1">
            <a:off x="5419656" y="3424573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5" name="Google Shape;750;p46">
            <a:extLst>
              <a:ext uri="{FF2B5EF4-FFF2-40B4-BE49-F238E27FC236}">
                <a16:creationId xmlns:a16="http://schemas.microsoft.com/office/drawing/2014/main" id="{E14FB3F7-9E25-4655-8CB9-E574F93729DB}"/>
              </a:ext>
            </a:extLst>
          </p:cNvPr>
          <p:cNvCxnSpPr>
            <a:cxnSpLocks/>
          </p:cNvCxnSpPr>
          <p:nvPr/>
        </p:nvCxnSpPr>
        <p:spPr>
          <a:xfrm flipH="1">
            <a:off x="5381556" y="2719649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6" name="Google Shape;750;p46">
            <a:extLst>
              <a:ext uri="{FF2B5EF4-FFF2-40B4-BE49-F238E27FC236}">
                <a16:creationId xmlns:a16="http://schemas.microsoft.com/office/drawing/2014/main" id="{77A60FE2-4EAE-4EDF-ADD3-F654EDBC9CF2}"/>
              </a:ext>
            </a:extLst>
          </p:cNvPr>
          <p:cNvCxnSpPr>
            <a:cxnSpLocks/>
          </p:cNvCxnSpPr>
          <p:nvPr/>
        </p:nvCxnSpPr>
        <p:spPr>
          <a:xfrm flipH="1">
            <a:off x="5381556" y="2011771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0" name="Google Shape;750;p46">
            <a:extLst>
              <a:ext uri="{FF2B5EF4-FFF2-40B4-BE49-F238E27FC236}">
                <a16:creationId xmlns:a16="http://schemas.microsoft.com/office/drawing/2014/main" id="{A825C251-6B69-4818-83ED-17F302F1D3B3}"/>
              </a:ext>
            </a:extLst>
          </p:cNvPr>
          <p:cNvCxnSpPr>
            <a:cxnSpLocks/>
          </p:cNvCxnSpPr>
          <p:nvPr/>
        </p:nvCxnSpPr>
        <p:spPr>
          <a:xfrm>
            <a:off x="6709661" y="2969923"/>
            <a:ext cx="1548514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3" name="Google Shape;750;p46">
            <a:extLst>
              <a:ext uri="{FF2B5EF4-FFF2-40B4-BE49-F238E27FC236}">
                <a16:creationId xmlns:a16="http://schemas.microsoft.com/office/drawing/2014/main" id="{1738647F-F44E-492F-8175-982E61041B0A}"/>
              </a:ext>
            </a:extLst>
          </p:cNvPr>
          <p:cNvCxnSpPr>
            <a:cxnSpLocks/>
          </p:cNvCxnSpPr>
          <p:nvPr/>
        </p:nvCxnSpPr>
        <p:spPr>
          <a:xfrm>
            <a:off x="543118" y="2991840"/>
            <a:ext cx="972760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sp>
        <p:nvSpPr>
          <p:cNvPr id="31" name="Google Shape;1561;p49">
            <a:extLst>
              <a:ext uri="{FF2B5EF4-FFF2-40B4-BE49-F238E27FC236}">
                <a16:creationId xmlns:a16="http://schemas.microsoft.com/office/drawing/2014/main" id="{68CACFCF-B6DB-4B27-B845-3DF3D2ADACFC}"/>
              </a:ext>
            </a:extLst>
          </p:cNvPr>
          <p:cNvSpPr/>
          <p:nvPr/>
        </p:nvSpPr>
        <p:spPr>
          <a:xfrm>
            <a:off x="7194202" y="2543965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2.0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2" name="Google Shape;750;p46">
            <a:extLst>
              <a:ext uri="{FF2B5EF4-FFF2-40B4-BE49-F238E27FC236}">
                <a16:creationId xmlns:a16="http://schemas.microsoft.com/office/drawing/2014/main" id="{2F0864F0-2FC9-47D7-BC33-4A718C76864B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1541933" y="2000474"/>
            <a:ext cx="1067848" cy="994012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" name="Google Shape;750;p46">
            <a:extLst>
              <a:ext uri="{FF2B5EF4-FFF2-40B4-BE49-F238E27FC236}">
                <a16:creationId xmlns:a16="http://schemas.microsoft.com/office/drawing/2014/main" id="{EBBF956A-69CA-4CC1-A14F-C79996FE476B}"/>
              </a:ext>
            </a:extLst>
          </p:cNvPr>
          <p:cNvCxnSpPr>
            <a:cxnSpLocks/>
            <a:endCxn id="63" idx="1"/>
          </p:cNvCxnSpPr>
          <p:nvPr/>
        </p:nvCxnSpPr>
        <p:spPr>
          <a:xfrm flipV="1">
            <a:off x="1541933" y="2727402"/>
            <a:ext cx="1067848" cy="267086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" name="Google Shape;750;p46">
            <a:extLst>
              <a:ext uri="{FF2B5EF4-FFF2-40B4-BE49-F238E27FC236}">
                <a16:creationId xmlns:a16="http://schemas.microsoft.com/office/drawing/2014/main" id="{3D7AD83E-31A9-4FD1-8553-B6B0AF039372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541933" y="2994482"/>
            <a:ext cx="1067848" cy="447369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4" name="Google Shape;750;p46">
            <a:extLst>
              <a:ext uri="{FF2B5EF4-FFF2-40B4-BE49-F238E27FC236}">
                <a16:creationId xmlns:a16="http://schemas.microsoft.com/office/drawing/2014/main" id="{A288AA9A-FF2D-4924-B997-8D58A7698B04}"/>
              </a:ext>
            </a:extLst>
          </p:cNvPr>
          <p:cNvCxnSpPr>
            <a:cxnSpLocks/>
            <a:endCxn id="65" idx="1"/>
          </p:cNvCxnSpPr>
          <p:nvPr/>
        </p:nvCxnSpPr>
        <p:spPr>
          <a:xfrm>
            <a:off x="1586990" y="2994481"/>
            <a:ext cx="1022791" cy="1141141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" name="Google Shape;1562;p49">
            <a:extLst>
              <a:ext uri="{FF2B5EF4-FFF2-40B4-BE49-F238E27FC236}">
                <a16:creationId xmlns:a16="http://schemas.microsoft.com/office/drawing/2014/main" id="{A3A378F4-2030-4998-A924-7E7E0E1D39D6}"/>
              </a:ext>
            </a:extLst>
          </p:cNvPr>
          <p:cNvSpPr/>
          <p:nvPr/>
        </p:nvSpPr>
        <p:spPr>
          <a:xfrm>
            <a:off x="1108382" y="2551406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906BD-84C3-4E18-BBF3-71C96FEA7024}"/>
              </a:ext>
            </a:extLst>
          </p:cNvPr>
          <p:cNvSpPr txBox="1"/>
          <p:nvPr/>
        </p:nvSpPr>
        <p:spPr>
          <a:xfrm>
            <a:off x="1179494" y="2740028"/>
            <a:ext cx="724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Master</a:t>
            </a:r>
          </a:p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Branch</a:t>
            </a:r>
          </a:p>
        </p:txBody>
      </p:sp>
      <p:sp>
        <p:nvSpPr>
          <p:cNvPr id="66" name="Google Shape;1562;p49">
            <a:extLst>
              <a:ext uri="{FF2B5EF4-FFF2-40B4-BE49-F238E27FC236}">
                <a16:creationId xmlns:a16="http://schemas.microsoft.com/office/drawing/2014/main" id="{04C9393E-2FB3-4ED3-BA20-46AE0293BB35}"/>
              </a:ext>
            </a:extLst>
          </p:cNvPr>
          <p:cNvSpPr/>
          <p:nvPr/>
        </p:nvSpPr>
        <p:spPr>
          <a:xfrm>
            <a:off x="82589" y="2540257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1.0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0" name="Google Shape;750;p46">
            <a:extLst>
              <a:ext uri="{FF2B5EF4-FFF2-40B4-BE49-F238E27FC236}">
                <a16:creationId xmlns:a16="http://schemas.microsoft.com/office/drawing/2014/main" id="{C416A903-B341-441D-BBF1-810E5C3D6BB8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5543481" y="4135622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FA22AFC-27C2-40D7-90D2-8083994E98D5}"/>
              </a:ext>
            </a:extLst>
          </p:cNvPr>
          <p:cNvSpPr/>
          <p:nvPr/>
        </p:nvSpPr>
        <p:spPr>
          <a:xfrm>
            <a:off x="2609781" y="1754067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메시지 검색 기능 추가</a:t>
            </a:r>
            <a:endParaRPr lang="en-US" altLang="ko-KR" sz="1400" dirty="0">
              <a:solidFill>
                <a:schemeClr val="tx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4EBEE7D-98C4-497B-A4CF-2D4CAF534D89}"/>
              </a:ext>
            </a:extLst>
          </p:cNvPr>
          <p:cNvSpPr/>
          <p:nvPr/>
        </p:nvSpPr>
        <p:spPr>
          <a:xfrm>
            <a:off x="2609781" y="248099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선물하기 기능 추가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67273EE-9F0D-40F3-9B7B-1E683218EA30}"/>
              </a:ext>
            </a:extLst>
          </p:cNvPr>
          <p:cNvSpPr/>
          <p:nvPr/>
        </p:nvSpPr>
        <p:spPr>
          <a:xfrm>
            <a:off x="2609781" y="3195444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친구 리스트 </a:t>
            </a:r>
            <a:r>
              <a:rPr lang="ko-KR" altLang="en-US" dirty="0" err="1">
                <a:solidFill>
                  <a:schemeClr val="tx1"/>
                </a:solidFill>
              </a:rPr>
              <a:t>ㄱㄴㄷ순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8ACE95E0-BC54-4C26-90A6-6D008A569987}"/>
              </a:ext>
            </a:extLst>
          </p:cNvPr>
          <p:cNvSpPr/>
          <p:nvPr/>
        </p:nvSpPr>
        <p:spPr>
          <a:xfrm>
            <a:off x="2609781" y="388921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메시지 도착 알림 버그 수정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E872096-B1BD-4AB1-8ED3-422653697879}"/>
              </a:ext>
            </a:extLst>
          </p:cNvPr>
          <p:cNvSpPr txBox="1"/>
          <p:nvPr/>
        </p:nvSpPr>
        <p:spPr>
          <a:xfrm rot="19020731">
            <a:off x="1794381" y="216771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1</a:t>
            </a:r>
            <a:endParaRPr lang="ko-KR" altLang="en-US" sz="1100" dirty="0"/>
          </a:p>
        </p:txBody>
      </p:sp>
      <p:sp>
        <p:nvSpPr>
          <p:cNvPr id="134" name="Google Shape;1561;p49">
            <a:extLst>
              <a:ext uri="{FF2B5EF4-FFF2-40B4-BE49-F238E27FC236}">
                <a16:creationId xmlns:a16="http://schemas.microsoft.com/office/drawing/2014/main" id="{0DBCD4EE-2993-43D4-9AA1-36D75C15A033}"/>
              </a:ext>
            </a:extLst>
          </p:cNvPr>
          <p:cNvSpPr/>
          <p:nvPr/>
        </p:nvSpPr>
        <p:spPr>
          <a:xfrm>
            <a:off x="8214959" y="2528524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4B6DB65-E86A-4538-B262-11A819D56C97}"/>
              </a:ext>
            </a:extLst>
          </p:cNvPr>
          <p:cNvSpPr txBox="1"/>
          <p:nvPr/>
        </p:nvSpPr>
        <p:spPr>
          <a:xfrm>
            <a:off x="8258175" y="2808188"/>
            <a:ext cx="77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BF1AA81-480D-47E5-874F-EA73A2A1017B}"/>
              </a:ext>
            </a:extLst>
          </p:cNvPr>
          <p:cNvSpPr txBox="1"/>
          <p:nvPr/>
        </p:nvSpPr>
        <p:spPr>
          <a:xfrm rot="20736235">
            <a:off x="1930618" y="257835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2</a:t>
            </a:r>
            <a:endParaRPr lang="ko-KR" altLang="en-US" sz="11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ADC09C8-F821-4319-A1FD-A3F8825B58B9}"/>
              </a:ext>
            </a:extLst>
          </p:cNvPr>
          <p:cNvSpPr txBox="1"/>
          <p:nvPr/>
        </p:nvSpPr>
        <p:spPr>
          <a:xfrm rot="1332554">
            <a:off x="1963461" y="309436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3</a:t>
            </a:r>
            <a:endParaRPr lang="ko-KR" altLang="en-US" sz="11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CD0211E4-2362-42F8-806D-865AA56ABB4B}"/>
              </a:ext>
            </a:extLst>
          </p:cNvPr>
          <p:cNvSpPr txBox="1"/>
          <p:nvPr/>
        </p:nvSpPr>
        <p:spPr>
          <a:xfrm rot="2878202">
            <a:off x="1923588" y="351579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4</a:t>
            </a:r>
            <a:endParaRPr lang="ko-KR" altLang="en-US" sz="1100" dirty="0"/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5F01519D-EA8F-4835-8059-ACC2178391D5}"/>
              </a:ext>
            </a:extLst>
          </p:cNvPr>
          <p:cNvSpPr/>
          <p:nvPr/>
        </p:nvSpPr>
        <p:spPr>
          <a:xfrm>
            <a:off x="6180440" y="1754067"/>
            <a:ext cx="805497" cy="2627961"/>
          </a:xfrm>
          <a:prstGeom prst="roundRect">
            <a:avLst/>
          </a:prstGeom>
          <a:solidFill>
            <a:srgbClr val="F692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Quattrocento Sans" panose="020B0600000101010101" charset="0"/>
              </a:rPr>
              <a:t>Merge</a:t>
            </a:r>
            <a:endParaRPr lang="ko-KR" altLang="en-US" dirty="0">
              <a:solidFill>
                <a:schemeClr val="tx1"/>
              </a:solidFill>
              <a:latin typeface="Quattrocento Sans" panose="020B0600000101010101" charset="0"/>
            </a:endParaRPr>
          </a:p>
        </p:txBody>
      </p:sp>
      <p:sp>
        <p:nvSpPr>
          <p:cNvPr id="147" name="Google Shape;1566;p49">
            <a:extLst>
              <a:ext uri="{FF2B5EF4-FFF2-40B4-BE49-F238E27FC236}">
                <a16:creationId xmlns:a16="http://schemas.microsoft.com/office/drawing/2014/main" id="{E2979D14-6A6B-4BBF-99D7-82027826F451}"/>
              </a:ext>
            </a:extLst>
          </p:cNvPr>
          <p:cNvSpPr/>
          <p:nvPr/>
        </p:nvSpPr>
        <p:spPr>
          <a:xfrm>
            <a:off x="5361470" y="1605832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8" name="Google Shape;1566;p49">
            <a:extLst>
              <a:ext uri="{FF2B5EF4-FFF2-40B4-BE49-F238E27FC236}">
                <a16:creationId xmlns:a16="http://schemas.microsoft.com/office/drawing/2014/main" id="{B99B3C50-A965-4D66-A18F-E0D7074BB6A7}"/>
              </a:ext>
            </a:extLst>
          </p:cNvPr>
          <p:cNvSpPr/>
          <p:nvPr/>
        </p:nvSpPr>
        <p:spPr>
          <a:xfrm>
            <a:off x="5358265" y="2331798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9" name="Google Shape;1566;p49">
            <a:extLst>
              <a:ext uri="{FF2B5EF4-FFF2-40B4-BE49-F238E27FC236}">
                <a16:creationId xmlns:a16="http://schemas.microsoft.com/office/drawing/2014/main" id="{86B423ED-1CBD-49F1-AC6B-41D3625BDC18}"/>
              </a:ext>
            </a:extLst>
          </p:cNvPr>
          <p:cNvSpPr/>
          <p:nvPr/>
        </p:nvSpPr>
        <p:spPr>
          <a:xfrm>
            <a:off x="5358265" y="3046247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0" name="Google Shape;1566;p49">
            <a:extLst>
              <a:ext uri="{FF2B5EF4-FFF2-40B4-BE49-F238E27FC236}">
                <a16:creationId xmlns:a16="http://schemas.microsoft.com/office/drawing/2014/main" id="{70401F96-AFD5-44EC-8CA4-829302041749}"/>
              </a:ext>
            </a:extLst>
          </p:cNvPr>
          <p:cNvSpPr/>
          <p:nvPr/>
        </p:nvSpPr>
        <p:spPr>
          <a:xfrm>
            <a:off x="5364270" y="3733800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4274985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456113" y="1385706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4000" b="1" dirty="0">
                <a:highlight>
                  <a:srgbClr val="FFCD00"/>
                </a:highlight>
              </a:rPr>
              <a:t>Command Line</a:t>
            </a: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945626-418F-441C-8849-6C3C5A1FB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26" y="2335426"/>
            <a:ext cx="3414337" cy="21641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2" descr="GitHub Download for Free - 2023 Latest Version">
            <a:extLst>
              <a:ext uri="{FF2B5EF4-FFF2-40B4-BE49-F238E27FC236}">
                <a16:creationId xmlns:a16="http://schemas.microsoft.com/office/drawing/2014/main" id="{EA5E1739-4015-4124-B8E3-D85F65752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940" y="2401453"/>
            <a:ext cx="3457287" cy="19447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393;p34">
            <a:extLst>
              <a:ext uri="{FF2B5EF4-FFF2-40B4-BE49-F238E27FC236}">
                <a16:creationId xmlns:a16="http://schemas.microsoft.com/office/drawing/2014/main" id="{D92E4117-9705-4B68-9BB0-BCFF2CAD2C08}"/>
              </a:ext>
            </a:extLst>
          </p:cNvPr>
          <p:cNvSpPr txBox="1">
            <a:spLocks/>
          </p:cNvSpPr>
          <p:nvPr/>
        </p:nvSpPr>
        <p:spPr>
          <a:xfrm>
            <a:off x="5588718" y="1385706"/>
            <a:ext cx="2453519" cy="105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4000" b="1" dirty="0">
                <a:highlight>
                  <a:srgbClr val="FFCD00"/>
                </a:highlight>
              </a:rPr>
              <a:t>Git GUI</a:t>
            </a:r>
          </a:p>
        </p:txBody>
      </p:sp>
      <p:sp>
        <p:nvSpPr>
          <p:cNvPr id="19" name="Google Shape;393;p34">
            <a:extLst>
              <a:ext uri="{FF2B5EF4-FFF2-40B4-BE49-F238E27FC236}">
                <a16:creationId xmlns:a16="http://schemas.microsoft.com/office/drawing/2014/main" id="{7A20F7AD-53AE-45CD-A881-8677E77139C6}"/>
              </a:ext>
            </a:extLst>
          </p:cNvPr>
          <p:cNvSpPr txBox="1">
            <a:spLocks/>
          </p:cNvSpPr>
          <p:nvPr/>
        </p:nvSpPr>
        <p:spPr>
          <a:xfrm>
            <a:off x="1516260" y="4475567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Git Bash</a:t>
            </a:r>
          </a:p>
        </p:txBody>
      </p:sp>
      <p:sp>
        <p:nvSpPr>
          <p:cNvPr id="20" name="Google Shape;393;p34">
            <a:extLst>
              <a:ext uri="{FF2B5EF4-FFF2-40B4-BE49-F238E27FC236}">
                <a16:creationId xmlns:a16="http://schemas.microsoft.com/office/drawing/2014/main" id="{26EBE537-7BAC-4CBB-9AD5-7A5EB78A5F2F}"/>
              </a:ext>
            </a:extLst>
          </p:cNvPr>
          <p:cNvSpPr txBox="1">
            <a:spLocks/>
          </p:cNvSpPr>
          <p:nvPr/>
        </p:nvSpPr>
        <p:spPr>
          <a:xfrm>
            <a:off x="4836313" y="2230945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Ex)</a:t>
            </a:r>
          </a:p>
        </p:txBody>
      </p:sp>
    </p:spTree>
    <p:extLst>
      <p:ext uri="{BB962C8B-B14F-4D97-AF65-F5344CB8AC3E}">
        <p14:creationId xmlns:p14="http://schemas.microsoft.com/office/powerpoint/2010/main" val="298512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957512" y="1719880"/>
            <a:ext cx="3228975" cy="3406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1" dirty="0">
                <a:highlight>
                  <a:srgbClr val="FFCD00"/>
                </a:highlight>
              </a:rPr>
              <a:t>Command Line </a:t>
            </a:r>
            <a:r>
              <a:rPr lang="ko-KR" altLang="en-US" sz="1800" b="1" dirty="0">
                <a:highlight>
                  <a:srgbClr val="FFCD00"/>
                </a:highlight>
              </a:rPr>
              <a:t>명령어</a:t>
            </a:r>
            <a:endParaRPr lang="en-US" sz="18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13" name="Google Shape;125;p17">
            <a:extLst>
              <a:ext uri="{FF2B5EF4-FFF2-40B4-BE49-F238E27FC236}">
                <a16:creationId xmlns:a16="http://schemas.microsoft.com/office/drawing/2014/main" id="{78FB27E7-03E2-4A76-AAF2-5B33B03E6C91}"/>
              </a:ext>
            </a:extLst>
          </p:cNvPr>
          <p:cNvSpPr txBox="1">
            <a:spLocks/>
          </p:cNvSpPr>
          <p:nvPr/>
        </p:nvSpPr>
        <p:spPr>
          <a:xfrm>
            <a:off x="660172" y="2112199"/>
            <a:ext cx="4531935" cy="216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</a:t>
            </a:r>
            <a:r>
              <a:rPr lang="en-US" sz="1400" dirty="0" err="1"/>
              <a:t>init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clone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add [</a:t>
            </a:r>
            <a:r>
              <a:rPr lang="ko-KR" altLang="en-US" sz="1400" dirty="0"/>
              <a:t>파일명</a:t>
            </a:r>
            <a:r>
              <a:rPr lang="en-US" altLang="ko-KR" sz="1400" dirty="0"/>
              <a:t>]or . 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commit –m “[</a:t>
            </a:r>
            <a:r>
              <a:rPr lang="ko-KR" altLang="en-US" sz="1400" dirty="0" err="1"/>
              <a:t>커밋</a:t>
            </a:r>
            <a:r>
              <a:rPr lang="ko-KR" altLang="en-US" sz="1400" dirty="0"/>
              <a:t> 메시지</a:t>
            </a:r>
            <a:r>
              <a:rPr lang="en-US" altLang="ko-KR" sz="1400" dirty="0"/>
              <a:t>]</a:t>
            </a:r>
            <a:r>
              <a:rPr lang="en-US" sz="1400" dirty="0"/>
              <a:t>”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status 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log</a:t>
            </a:r>
          </a:p>
        </p:txBody>
      </p:sp>
      <p:sp>
        <p:nvSpPr>
          <p:cNvPr id="21" name="Google Shape;125;p17">
            <a:extLst>
              <a:ext uri="{FF2B5EF4-FFF2-40B4-BE49-F238E27FC236}">
                <a16:creationId xmlns:a16="http://schemas.microsoft.com/office/drawing/2014/main" id="{379A7494-F3C4-483B-BE20-047B49C604DE}"/>
              </a:ext>
            </a:extLst>
          </p:cNvPr>
          <p:cNvSpPr txBox="1">
            <a:spLocks/>
          </p:cNvSpPr>
          <p:nvPr/>
        </p:nvSpPr>
        <p:spPr>
          <a:xfrm>
            <a:off x="4244340" y="2117722"/>
            <a:ext cx="5080635" cy="2435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branch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checkout [</a:t>
            </a:r>
            <a:r>
              <a:rPr lang="ko-KR" altLang="en-US" sz="1400" dirty="0" err="1"/>
              <a:t>브랜치명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merge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push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pull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add [</a:t>
            </a:r>
            <a:r>
              <a:rPr lang="ko-KR" altLang="en-US" sz="1400" dirty="0"/>
              <a:t>원격 저장소 이름</a:t>
            </a:r>
            <a:r>
              <a:rPr lang="en-US" altLang="ko-KR" sz="1400" dirty="0"/>
              <a:t>]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-v</a:t>
            </a:r>
          </a:p>
        </p:txBody>
      </p:sp>
    </p:spTree>
    <p:extLst>
      <p:ext uri="{BB962C8B-B14F-4D97-AF65-F5344CB8AC3E}">
        <p14:creationId xmlns:p14="http://schemas.microsoft.com/office/powerpoint/2010/main" val="1227011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383993" y="2407683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/>
              <a:t>시연</a:t>
            </a:r>
            <a:endParaRPr lang="en-US" sz="4000" b="1"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05342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전망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The Future</a:t>
            </a:r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4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49979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4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전망</a:t>
            </a:r>
            <a:endParaRPr dirty="0"/>
          </a:p>
        </p:txBody>
      </p:sp>
      <p:sp>
        <p:nvSpPr>
          <p:cNvPr id="506" name="Google Shape;506;p4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sp>
        <p:nvSpPr>
          <p:cNvPr id="507" name="Google Shape;507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228600" cap="flat" cmpd="sng">
            <a:solidFill>
              <a:schemeClr val="dk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19050" cap="flat" cmpd="sng">
            <a:solidFill>
              <a:schemeClr val="lt1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9" name="Google Shape;509;p40"/>
          <p:cNvGrpSpPr/>
          <p:nvPr/>
        </p:nvGrpSpPr>
        <p:grpSpPr>
          <a:xfrm>
            <a:off x="1786339" y="1703401"/>
            <a:ext cx="473400" cy="473400"/>
            <a:chOff x="1786339" y="1703401"/>
            <a:chExt cx="473400" cy="473400"/>
          </a:xfrm>
        </p:grpSpPr>
        <p:sp>
          <p:nvSpPr>
            <p:cNvPr id="510" name="Google Shape;510;p40"/>
            <p:cNvSpPr/>
            <p:nvPr/>
          </p:nvSpPr>
          <p:spPr>
            <a:xfrm rot="8100000">
              <a:off x="185566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1" name="Google Shape;511;p40"/>
            <p:cNvSpPr/>
            <p:nvPr/>
          </p:nvSpPr>
          <p:spPr>
            <a:xfrm>
              <a:off x="195598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1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2" name="Google Shape;512;p40"/>
          <p:cNvGrpSpPr/>
          <p:nvPr/>
        </p:nvGrpSpPr>
        <p:grpSpPr>
          <a:xfrm>
            <a:off x="3814414" y="1703401"/>
            <a:ext cx="473400" cy="473400"/>
            <a:chOff x="3814414" y="1703401"/>
            <a:chExt cx="473400" cy="473400"/>
          </a:xfrm>
        </p:grpSpPr>
        <p:sp>
          <p:nvSpPr>
            <p:cNvPr id="513" name="Google Shape;513;p40"/>
            <p:cNvSpPr/>
            <p:nvPr/>
          </p:nvSpPr>
          <p:spPr>
            <a:xfrm rot="8100000">
              <a:off x="3883742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4" name="Google Shape;514;p40"/>
            <p:cNvSpPr/>
            <p:nvPr/>
          </p:nvSpPr>
          <p:spPr>
            <a:xfrm>
              <a:off x="3984064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3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5" name="Google Shape;515;p40"/>
          <p:cNvGrpSpPr/>
          <p:nvPr/>
        </p:nvGrpSpPr>
        <p:grpSpPr>
          <a:xfrm>
            <a:off x="5842489" y="1703401"/>
            <a:ext cx="473400" cy="473400"/>
            <a:chOff x="5842489" y="1703401"/>
            <a:chExt cx="473400" cy="473400"/>
          </a:xfrm>
        </p:grpSpPr>
        <p:sp>
          <p:nvSpPr>
            <p:cNvPr id="516" name="Google Shape;516;p40"/>
            <p:cNvSpPr/>
            <p:nvPr/>
          </p:nvSpPr>
          <p:spPr>
            <a:xfrm rot="8100000">
              <a:off x="591181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7" name="Google Shape;517;p40"/>
            <p:cNvSpPr/>
            <p:nvPr/>
          </p:nvSpPr>
          <p:spPr>
            <a:xfrm>
              <a:off x="601213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5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8" name="Google Shape;518;p40"/>
          <p:cNvGrpSpPr/>
          <p:nvPr/>
        </p:nvGrpSpPr>
        <p:grpSpPr>
          <a:xfrm>
            <a:off x="6880814" y="3576300"/>
            <a:ext cx="473400" cy="473400"/>
            <a:chOff x="6880814" y="3576300"/>
            <a:chExt cx="473400" cy="473400"/>
          </a:xfrm>
        </p:grpSpPr>
        <p:sp>
          <p:nvSpPr>
            <p:cNvPr id="519" name="Google Shape;519;p40"/>
            <p:cNvSpPr/>
            <p:nvPr/>
          </p:nvSpPr>
          <p:spPr>
            <a:xfrm rot="-2700000">
              <a:off x="695014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0" name="Google Shape;520;p40"/>
            <p:cNvSpPr/>
            <p:nvPr/>
          </p:nvSpPr>
          <p:spPr>
            <a:xfrm flipH="1">
              <a:off x="705046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6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1" name="Google Shape;521;p40"/>
          <p:cNvGrpSpPr/>
          <p:nvPr/>
        </p:nvGrpSpPr>
        <p:grpSpPr>
          <a:xfrm>
            <a:off x="4852739" y="3576300"/>
            <a:ext cx="473400" cy="473400"/>
            <a:chOff x="4852739" y="3576300"/>
            <a:chExt cx="473400" cy="473400"/>
          </a:xfrm>
        </p:grpSpPr>
        <p:sp>
          <p:nvSpPr>
            <p:cNvPr id="522" name="Google Shape;522;p40"/>
            <p:cNvSpPr/>
            <p:nvPr/>
          </p:nvSpPr>
          <p:spPr>
            <a:xfrm rot="-2700000">
              <a:off x="4922067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3" name="Google Shape;523;p40"/>
            <p:cNvSpPr/>
            <p:nvPr/>
          </p:nvSpPr>
          <p:spPr>
            <a:xfrm flipH="1">
              <a:off x="5022389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4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4" name="Google Shape;524;p40"/>
          <p:cNvGrpSpPr/>
          <p:nvPr/>
        </p:nvGrpSpPr>
        <p:grpSpPr>
          <a:xfrm>
            <a:off x="2824664" y="3576300"/>
            <a:ext cx="473400" cy="473400"/>
            <a:chOff x="2824664" y="3576300"/>
            <a:chExt cx="473400" cy="473400"/>
          </a:xfrm>
        </p:grpSpPr>
        <p:sp>
          <p:nvSpPr>
            <p:cNvPr id="525" name="Google Shape;525;p40"/>
            <p:cNvSpPr/>
            <p:nvPr/>
          </p:nvSpPr>
          <p:spPr>
            <a:xfrm rot="-2700000">
              <a:off x="289399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6" name="Google Shape;526;p40"/>
            <p:cNvSpPr/>
            <p:nvPr/>
          </p:nvSpPr>
          <p:spPr>
            <a:xfrm flipH="1">
              <a:off x="299431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2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527" name="Google Shape;527;p40"/>
          <p:cNvSpPr txBox="1"/>
          <p:nvPr/>
        </p:nvSpPr>
        <p:spPr>
          <a:xfrm>
            <a:off x="137985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오픈 소스 </a:t>
            </a:r>
            <a:r>
              <a:rPr lang="en-US" altLang="ko-KR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8" name="Google Shape;528;p40"/>
          <p:cNvSpPr txBox="1"/>
          <p:nvPr/>
        </p:nvSpPr>
        <p:spPr>
          <a:xfrm>
            <a:off x="3377205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속도와 성능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" name="Google Shape;529;p40"/>
          <p:cNvSpPr txBox="1"/>
          <p:nvPr/>
        </p:nvSpPr>
        <p:spPr>
          <a:xfrm>
            <a:off x="543601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분산 협업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0" name="Google Shape;530;p40"/>
          <p:cNvSpPr txBox="1"/>
          <p:nvPr/>
        </p:nvSpPr>
        <p:spPr>
          <a:xfrm>
            <a:off x="241817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Branch </a:t>
            </a: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관리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1" name="Google Shape;531;p40"/>
          <p:cNvSpPr txBox="1"/>
          <p:nvPr/>
        </p:nvSpPr>
        <p:spPr>
          <a:xfrm>
            <a:off x="444625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안정성 및 신뢰성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2" name="Google Shape;532;p40"/>
          <p:cNvSpPr txBox="1"/>
          <p:nvPr/>
        </p:nvSpPr>
        <p:spPr>
          <a:xfrm>
            <a:off x="647433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Community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533" name="Google Shape;533;p4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534" name="Google Shape;534;p4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244165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6"/>
          <p:cNvSpPr/>
          <p:nvPr/>
        </p:nvSpPr>
        <p:spPr>
          <a:xfrm>
            <a:off x="760452" y="382625"/>
            <a:ext cx="7623096" cy="363147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26"/>
          <p:cNvSpPr/>
          <p:nvPr/>
        </p:nvSpPr>
        <p:spPr>
          <a:xfrm>
            <a:off x="4469085" y="4390077"/>
            <a:ext cx="205838" cy="272818"/>
          </a:xfrm>
          <a:custGeom>
            <a:avLst/>
            <a:gdLst/>
            <a:ahLst/>
            <a:cxnLst/>
            <a:rect l="l" t="t" r="r" b="b"/>
            <a:pathLst>
              <a:path w="11983" h="15880" fill="none" extrusionOk="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6"/>
          <p:cNvSpPr/>
          <p:nvPr/>
        </p:nvSpPr>
        <p:spPr>
          <a:xfrm>
            <a:off x="1453850" y="15535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>
            <a:off x="2879300" y="29402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6"/>
          <p:cNvSpPr/>
          <p:nvPr/>
        </p:nvSpPr>
        <p:spPr>
          <a:xfrm>
            <a:off x="3891175" y="1288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6"/>
          <p:cNvSpPr/>
          <p:nvPr/>
        </p:nvSpPr>
        <p:spPr>
          <a:xfrm>
            <a:off x="1911050" y="2010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4565950" y="31922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26"/>
          <p:cNvSpPr/>
          <p:nvPr/>
        </p:nvSpPr>
        <p:spPr>
          <a:xfrm>
            <a:off x="6456675" y="17281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6"/>
          <p:cNvSpPr/>
          <p:nvPr/>
        </p:nvSpPr>
        <p:spPr>
          <a:xfrm>
            <a:off x="7235875" y="32838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15" name="Google Shape;264;p26">
            <a:extLst>
              <a:ext uri="{FF2B5EF4-FFF2-40B4-BE49-F238E27FC236}">
                <a16:creationId xmlns:a16="http://schemas.microsoft.com/office/drawing/2014/main" id="{660E5D9C-2E2F-4CEE-9164-ED966D406663}"/>
              </a:ext>
            </a:extLst>
          </p:cNvPr>
          <p:cNvSpPr/>
          <p:nvPr/>
        </p:nvSpPr>
        <p:spPr>
          <a:xfrm>
            <a:off x="2158075" y="14633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69;p26">
            <a:extLst>
              <a:ext uri="{FF2B5EF4-FFF2-40B4-BE49-F238E27FC236}">
                <a16:creationId xmlns:a16="http://schemas.microsoft.com/office/drawing/2014/main" id="{4A2C436F-3144-476B-A29B-8846DBE263C8}"/>
              </a:ext>
            </a:extLst>
          </p:cNvPr>
          <p:cNvSpPr/>
          <p:nvPr/>
        </p:nvSpPr>
        <p:spPr>
          <a:xfrm>
            <a:off x="6898625" y="13760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교육과정에서의 </a:t>
            </a:r>
            <a:r>
              <a:rPr lang="en-US" dirty="0"/>
              <a:t>Git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5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2482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grpSp>
        <p:nvGrpSpPr>
          <p:cNvPr id="13" name="Google Shape;1450;p49">
            <a:extLst>
              <a:ext uri="{FF2B5EF4-FFF2-40B4-BE49-F238E27FC236}">
                <a16:creationId xmlns:a16="http://schemas.microsoft.com/office/drawing/2014/main" id="{B8EFD2C9-ED72-4701-9033-C454DAB91A5C}"/>
              </a:ext>
            </a:extLst>
          </p:cNvPr>
          <p:cNvGrpSpPr/>
          <p:nvPr/>
        </p:nvGrpSpPr>
        <p:grpSpPr>
          <a:xfrm>
            <a:off x="2739936" y="1574105"/>
            <a:ext cx="3664128" cy="2978846"/>
            <a:chOff x="8843122" y="4420259"/>
            <a:chExt cx="720202" cy="655469"/>
          </a:xfrm>
        </p:grpSpPr>
        <p:sp>
          <p:nvSpPr>
            <p:cNvPr id="14" name="Google Shape;1451;p49">
              <a:extLst>
                <a:ext uri="{FF2B5EF4-FFF2-40B4-BE49-F238E27FC236}">
                  <a16:creationId xmlns:a16="http://schemas.microsoft.com/office/drawing/2014/main" id="{2A3FB143-806E-4B46-83DE-91C17F297D17}"/>
                </a:ext>
              </a:extLst>
            </p:cNvPr>
            <p:cNvSpPr/>
            <p:nvPr/>
          </p:nvSpPr>
          <p:spPr>
            <a:xfrm>
              <a:off x="8843122" y="4664371"/>
              <a:ext cx="351295" cy="411356"/>
            </a:xfrm>
            <a:custGeom>
              <a:avLst/>
              <a:gdLst/>
              <a:ahLst/>
              <a:cxnLst/>
              <a:rect l="l" t="t" r="r" b="b"/>
              <a:pathLst>
                <a:path w="530" h="618" extrusionOk="0">
                  <a:moveTo>
                    <a:pt x="374" y="277"/>
                  </a:moveTo>
                  <a:cubicBezTo>
                    <a:pt x="280" y="220"/>
                    <a:pt x="216" y="122"/>
                    <a:pt x="203" y="13"/>
                  </a:cubicBezTo>
                  <a:cubicBezTo>
                    <a:pt x="202" y="5"/>
                    <a:pt x="192" y="0"/>
                    <a:pt x="185" y="5"/>
                  </a:cubicBezTo>
                  <a:cubicBezTo>
                    <a:pt x="44" y="104"/>
                    <a:pt x="0" y="297"/>
                    <a:pt x="88" y="449"/>
                  </a:cubicBezTo>
                  <a:cubicBezTo>
                    <a:pt x="148" y="553"/>
                    <a:pt x="259" y="618"/>
                    <a:pt x="380" y="618"/>
                  </a:cubicBezTo>
                  <a:cubicBezTo>
                    <a:pt x="380" y="618"/>
                    <a:pt x="380" y="618"/>
                    <a:pt x="380" y="618"/>
                  </a:cubicBezTo>
                  <a:cubicBezTo>
                    <a:pt x="428" y="618"/>
                    <a:pt x="477" y="607"/>
                    <a:pt x="521" y="586"/>
                  </a:cubicBezTo>
                  <a:cubicBezTo>
                    <a:pt x="529" y="583"/>
                    <a:pt x="530" y="572"/>
                    <a:pt x="523" y="567"/>
                  </a:cubicBezTo>
                  <a:cubicBezTo>
                    <a:pt x="435" y="501"/>
                    <a:pt x="382" y="397"/>
                    <a:pt x="380" y="287"/>
                  </a:cubicBezTo>
                  <a:cubicBezTo>
                    <a:pt x="380" y="283"/>
                    <a:pt x="378" y="279"/>
                    <a:pt x="374" y="277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" name="Google Shape;1452;p49">
              <a:extLst>
                <a:ext uri="{FF2B5EF4-FFF2-40B4-BE49-F238E27FC236}">
                  <a16:creationId xmlns:a16="http://schemas.microsoft.com/office/drawing/2014/main" id="{D4FF1860-1BFB-461E-9539-24FFABECC8D0}"/>
                </a:ext>
              </a:extLst>
            </p:cNvPr>
            <p:cNvSpPr/>
            <p:nvPr/>
          </p:nvSpPr>
          <p:spPr>
            <a:xfrm>
              <a:off x="9232824" y="4664371"/>
              <a:ext cx="330500" cy="411356"/>
            </a:xfrm>
            <a:custGeom>
              <a:avLst/>
              <a:gdLst/>
              <a:ahLst/>
              <a:cxnLst/>
              <a:rect l="l" t="t" r="r" b="b"/>
              <a:pathLst>
                <a:path w="499" h="618" extrusionOk="0">
                  <a:moveTo>
                    <a:pt x="326" y="13"/>
                  </a:moveTo>
                  <a:cubicBezTo>
                    <a:pt x="313" y="122"/>
                    <a:pt x="250" y="220"/>
                    <a:pt x="155" y="277"/>
                  </a:cubicBezTo>
                  <a:cubicBezTo>
                    <a:pt x="152" y="279"/>
                    <a:pt x="149" y="283"/>
                    <a:pt x="149" y="287"/>
                  </a:cubicBezTo>
                  <a:cubicBezTo>
                    <a:pt x="147" y="397"/>
                    <a:pt x="94" y="501"/>
                    <a:pt x="7" y="567"/>
                  </a:cubicBezTo>
                  <a:cubicBezTo>
                    <a:pt x="0" y="572"/>
                    <a:pt x="1" y="583"/>
                    <a:pt x="9" y="586"/>
                  </a:cubicBezTo>
                  <a:cubicBezTo>
                    <a:pt x="53" y="607"/>
                    <a:pt x="101" y="618"/>
                    <a:pt x="150" y="618"/>
                  </a:cubicBezTo>
                  <a:cubicBezTo>
                    <a:pt x="270" y="618"/>
                    <a:pt x="382" y="553"/>
                    <a:pt x="442" y="449"/>
                  </a:cubicBezTo>
                  <a:cubicBezTo>
                    <a:pt x="487" y="371"/>
                    <a:pt x="499" y="281"/>
                    <a:pt x="476" y="194"/>
                  </a:cubicBezTo>
                  <a:cubicBezTo>
                    <a:pt x="455" y="117"/>
                    <a:pt x="409" y="51"/>
                    <a:pt x="344" y="5"/>
                  </a:cubicBezTo>
                  <a:cubicBezTo>
                    <a:pt x="337" y="0"/>
                    <a:pt x="327" y="5"/>
                    <a:pt x="326" y="13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7" name="Google Shape;1453;p49">
              <a:extLst>
                <a:ext uri="{FF2B5EF4-FFF2-40B4-BE49-F238E27FC236}">
                  <a16:creationId xmlns:a16="http://schemas.microsoft.com/office/drawing/2014/main" id="{DD88B08E-E000-445A-B83B-5B5ECF3CEA81}"/>
                </a:ext>
              </a:extLst>
            </p:cNvPr>
            <p:cNvSpPr/>
            <p:nvPr/>
          </p:nvSpPr>
          <p:spPr>
            <a:xfrm>
              <a:off x="9108305" y="4859367"/>
              <a:ext cx="210630" cy="182470"/>
            </a:xfrm>
            <a:custGeom>
              <a:avLst/>
              <a:gdLst/>
              <a:ahLst/>
              <a:cxnLst/>
              <a:rect l="l" t="t" r="r" b="b"/>
              <a:pathLst>
                <a:path w="318" h="274" extrusionOk="0">
                  <a:moveTo>
                    <a:pt x="165" y="271"/>
                  </a:moveTo>
                  <a:cubicBezTo>
                    <a:pt x="253" y="214"/>
                    <a:pt x="309" y="118"/>
                    <a:pt x="317" y="14"/>
                  </a:cubicBezTo>
                  <a:cubicBezTo>
                    <a:pt x="318" y="6"/>
                    <a:pt x="309" y="0"/>
                    <a:pt x="301" y="3"/>
                  </a:cubicBezTo>
                  <a:cubicBezTo>
                    <a:pt x="256" y="23"/>
                    <a:pt x="208" y="33"/>
                    <a:pt x="159" y="33"/>
                  </a:cubicBezTo>
                  <a:cubicBezTo>
                    <a:pt x="110" y="33"/>
                    <a:pt x="61" y="23"/>
                    <a:pt x="16" y="3"/>
                  </a:cubicBezTo>
                  <a:cubicBezTo>
                    <a:pt x="8" y="0"/>
                    <a:pt x="0" y="6"/>
                    <a:pt x="0" y="14"/>
                  </a:cubicBezTo>
                  <a:cubicBezTo>
                    <a:pt x="9" y="118"/>
                    <a:pt x="65" y="214"/>
                    <a:pt x="152" y="271"/>
                  </a:cubicBezTo>
                  <a:cubicBezTo>
                    <a:pt x="156" y="274"/>
                    <a:pt x="161" y="274"/>
                    <a:pt x="165" y="271"/>
                  </a:cubicBezTo>
                  <a:close/>
                </a:path>
              </a:pathLst>
            </a:custGeom>
            <a:solidFill>
              <a:srgbClr val="A2C4C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1" name="Google Shape;1454;p49">
              <a:extLst>
                <a:ext uri="{FF2B5EF4-FFF2-40B4-BE49-F238E27FC236}">
                  <a16:creationId xmlns:a16="http://schemas.microsoft.com/office/drawing/2014/main" id="{C7CD32E6-897B-448D-B421-BB703888A832}"/>
                </a:ext>
              </a:extLst>
            </p:cNvPr>
            <p:cNvSpPr/>
            <p:nvPr/>
          </p:nvSpPr>
          <p:spPr>
            <a:xfrm>
              <a:off x="8990881" y="4420259"/>
              <a:ext cx="445234" cy="224220"/>
            </a:xfrm>
            <a:custGeom>
              <a:avLst/>
              <a:gdLst/>
              <a:ahLst/>
              <a:cxnLst/>
              <a:rect l="l" t="t" r="r" b="b"/>
              <a:pathLst>
                <a:path w="672" h="337" extrusionOk="0">
                  <a:moveTo>
                    <a:pt x="336" y="0"/>
                  </a:moveTo>
                  <a:cubicBezTo>
                    <a:pt x="160" y="0"/>
                    <a:pt x="15" y="135"/>
                    <a:pt x="0" y="307"/>
                  </a:cubicBezTo>
                  <a:cubicBezTo>
                    <a:pt x="0" y="315"/>
                    <a:pt x="8" y="322"/>
                    <a:pt x="16" y="318"/>
                  </a:cubicBezTo>
                  <a:cubicBezTo>
                    <a:pt x="60" y="299"/>
                    <a:pt x="108" y="290"/>
                    <a:pt x="156" y="290"/>
                  </a:cubicBezTo>
                  <a:cubicBezTo>
                    <a:pt x="217" y="290"/>
                    <a:pt x="277" y="305"/>
                    <a:pt x="330" y="335"/>
                  </a:cubicBezTo>
                  <a:cubicBezTo>
                    <a:pt x="334" y="337"/>
                    <a:pt x="338" y="337"/>
                    <a:pt x="341" y="335"/>
                  </a:cubicBezTo>
                  <a:cubicBezTo>
                    <a:pt x="395" y="305"/>
                    <a:pt x="455" y="290"/>
                    <a:pt x="516" y="290"/>
                  </a:cubicBezTo>
                  <a:cubicBezTo>
                    <a:pt x="564" y="290"/>
                    <a:pt x="611" y="299"/>
                    <a:pt x="655" y="318"/>
                  </a:cubicBezTo>
                  <a:cubicBezTo>
                    <a:pt x="663" y="321"/>
                    <a:pt x="672" y="315"/>
                    <a:pt x="671" y="307"/>
                  </a:cubicBezTo>
                  <a:cubicBezTo>
                    <a:pt x="656" y="135"/>
                    <a:pt x="511" y="0"/>
                    <a:pt x="336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2" name="Google Shape;1455;p49">
              <a:extLst>
                <a:ext uri="{FF2B5EF4-FFF2-40B4-BE49-F238E27FC236}">
                  <a16:creationId xmlns:a16="http://schemas.microsoft.com/office/drawing/2014/main" id="{3EECF897-9AB1-48AA-AC8C-7A961D78A869}"/>
                </a:ext>
              </a:extLst>
            </p:cNvPr>
            <p:cNvSpPr/>
            <p:nvPr/>
          </p:nvSpPr>
          <p:spPr>
            <a:xfrm>
              <a:off x="8988924" y="4625814"/>
              <a:ext cx="207939" cy="207766"/>
            </a:xfrm>
            <a:custGeom>
              <a:avLst/>
              <a:gdLst/>
              <a:ahLst/>
              <a:cxnLst/>
              <a:rect l="l" t="t" r="r" b="b"/>
              <a:pathLst>
                <a:path w="314" h="312" extrusionOk="0">
                  <a:moveTo>
                    <a:pt x="147" y="307"/>
                  </a:moveTo>
                  <a:cubicBezTo>
                    <a:pt x="154" y="312"/>
                    <a:pt x="163" y="308"/>
                    <a:pt x="164" y="299"/>
                  </a:cubicBezTo>
                  <a:cubicBezTo>
                    <a:pt x="170" y="251"/>
                    <a:pt x="185" y="203"/>
                    <a:pt x="210" y="161"/>
                  </a:cubicBezTo>
                  <a:cubicBezTo>
                    <a:pt x="234" y="118"/>
                    <a:pt x="268" y="81"/>
                    <a:pt x="307" y="52"/>
                  </a:cubicBezTo>
                  <a:cubicBezTo>
                    <a:pt x="314" y="47"/>
                    <a:pt x="313" y="37"/>
                    <a:pt x="305" y="33"/>
                  </a:cubicBezTo>
                  <a:cubicBezTo>
                    <a:pt x="260" y="11"/>
                    <a:pt x="210" y="0"/>
                    <a:pt x="159" y="0"/>
                  </a:cubicBezTo>
                  <a:cubicBezTo>
                    <a:pt x="104" y="0"/>
                    <a:pt x="49" y="14"/>
                    <a:pt x="0" y="40"/>
                  </a:cubicBezTo>
                  <a:cubicBezTo>
                    <a:pt x="4" y="147"/>
                    <a:pt x="59" y="247"/>
                    <a:pt x="147" y="307"/>
                  </a:cubicBezTo>
                  <a:close/>
                </a:path>
              </a:pathLst>
            </a:custGeom>
            <a:solidFill>
              <a:srgbClr val="B6D7A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3" name="Google Shape;1456;p49">
              <a:extLst>
                <a:ext uri="{FF2B5EF4-FFF2-40B4-BE49-F238E27FC236}">
                  <a16:creationId xmlns:a16="http://schemas.microsoft.com/office/drawing/2014/main" id="{A5C4DBF8-5558-4A53-B47B-24881175D2F2}"/>
                </a:ext>
              </a:extLst>
            </p:cNvPr>
            <p:cNvSpPr/>
            <p:nvPr/>
          </p:nvSpPr>
          <p:spPr>
            <a:xfrm>
              <a:off x="9232824" y="4627288"/>
              <a:ext cx="203291" cy="203591"/>
            </a:xfrm>
            <a:custGeom>
              <a:avLst/>
              <a:gdLst/>
              <a:ahLst/>
              <a:cxnLst/>
              <a:rect l="l" t="t" r="r" b="b"/>
              <a:pathLst>
                <a:path w="307" h="306" extrusionOk="0">
                  <a:moveTo>
                    <a:pt x="9" y="31"/>
                  </a:moveTo>
                  <a:cubicBezTo>
                    <a:pt x="1" y="35"/>
                    <a:pt x="0" y="45"/>
                    <a:pt x="7" y="51"/>
                  </a:cubicBezTo>
                  <a:cubicBezTo>
                    <a:pt x="45" y="79"/>
                    <a:pt x="77" y="116"/>
                    <a:pt x="101" y="158"/>
                  </a:cubicBezTo>
                  <a:cubicBezTo>
                    <a:pt x="126" y="199"/>
                    <a:pt x="141" y="246"/>
                    <a:pt x="147" y="293"/>
                  </a:cubicBezTo>
                  <a:cubicBezTo>
                    <a:pt x="148" y="302"/>
                    <a:pt x="158" y="306"/>
                    <a:pt x="165" y="301"/>
                  </a:cubicBezTo>
                  <a:cubicBezTo>
                    <a:pt x="248" y="243"/>
                    <a:pt x="301" y="149"/>
                    <a:pt x="307" y="46"/>
                  </a:cubicBezTo>
                  <a:cubicBezTo>
                    <a:pt x="307" y="42"/>
                    <a:pt x="305" y="38"/>
                    <a:pt x="301" y="35"/>
                  </a:cubicBezTo>
                  <a:cubicBezTo>
                    <a:pt x="254" y="12"/>
                    <a:pt x="202" y="0"/>
                    <a:pt x="151" y="0"/>
                  </a:cubicBezTo>
                  <a:cubicBezTo>
                    <a:pt x="101" y="0"/>
                    <a:pt x="53" y="11"/>
                    <a:pt x="9" y="31"/>
                  </a:cubicBez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E33269-267E-4E8A-84A1-DABC0B529CFD}"/>
              </a:ext>
            </a:extLst>
          </p:cNvPr>
          <p:cNvSpPr txBox="1"/>
          <p:nvPr/>
        </p:nvSpPr>
        <p:spPr>
          <a:xfrm>
            <a:off x="4246483" y="2873194"/>
            <a:ext cx="8226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/>
              <a:t>Git</a:t>
            </a:r>
          </a:p>
          <a:p>
            <a:pPr algn="ctr"/>
            <a:r>
              <a:rPr lang="en-US" altLang="ko-KR" sz="1600" dirty="0"/>
              <a:t>GitHub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83521-C290-4A0D-BDB8-F21D54D19269}"/>
              </a:ext>
            </a:extLst>
          </p:cNvPr>
          <p:cNvSpPr txBox="1"/>
          <p:nvPr/>
        </p:nvSpPr>
        <p:spPr>
          <a:xfrm>
            <a:off x="4262637" y="193827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웹개발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8D8D98-5D11-4200-A5D4-72D54EFE131C}"/>
              </a:ext>
            </a:extLst>
          </p:cNvPr>
          <p:cNvSpPr txBox="1"/>
          <p:nvPr/>
        </p:nvSpPr>
        <p:spPr>
          <a:xfrm>
            <a:off x="3040274" y="363710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빅데이터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62BD16-57DE-4D1F-8125-F2513F5B246E}"/>
              </a:ext>
            </a:extLst>
          </p:cNvPr>
          <p:cNvSpPr txBox="1"/>
          <p:nvPr/>
        </p:nvSpPr>
        <p:spPr>
          <a:xfrm>
            <a:off x="5522907" y="3635113"/>
            <a:ext cx="442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IoT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8417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pic>
        <p:nvPicPr>
          <p:cNvPr id="10246" name="Picture 6" descr="What Is DevOps? Here Are The Core Concepts You Actually Need To Know | by  Distillery Tech | Medium">
            <a:extLst>
              <a:ext uri="{FF2B5EF4-FFF2-40B4-BE49-F238E27FC236}">
                <a16:creationId xmlns:a16="http://schemas.microsoft.com/office/drawing/2014/main" id="{2D2B44C7-B1FD-4784-858F-6CD609A2A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974" y="1383136"/>
            <a:ext cx="6784701" cy="3712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A23A113-DA30-49B8-90D6-FEFD778D3CCC}"/>
              </a:ext>
            </a:extLst>
          </p:cNvPr>
          <p:cNvSpPr/>
          <p:nvPr/>
        </p:nvSpPr>
        <p:spPr>
          <a:xfrm>
            <a:off x="1072145" y="2695575"/>
            <a:ext cx="489955" cy="1238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004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 txBox="1">
            <a:spLocks noGrp="1"/>
          </p:cNvSpPr>
          <p:nvPr>
            <p:ph type="subTitle" idx="4294967295"/>
          </p:nvPr>
        </p:nvSpPr>
        <p:spPr>
          <a:xfrm>
            <a:off x="2371500" y="2093775"/>
            <a:ext cx="502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Any </a:t>
            </a:r>
            <a:r>
              <a:rPr lang="en" sz="3600" b="1" i="1" dirty="0"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questions</a:t>
            </a: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 ?</a:t>
            </a:r>
            <a:endParaRPr sz="3600" b="1" i="1" dirty="0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23" name="Google Shape;323;p30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ctrTitle" idx="4294967295"/>
          </p:nvPr>
        </p:nvSpPr>
        <p:spPr>
          <a:xfrm>
            <a:off x="2371625" y="816550"/>
            <a:ext cx="4908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cxnSp>
        <p:nvCxnSpPr>
          <p:cNvPr id="325" name="Google Shape;325;p30"/>
          <p:cNvCxnSpPr/>
          <p:nvPr/>
        </p:nvCxnSpPr>
        <p:spPr>
          <a:xfrm>
            <a:off x="5589800" y="1428750"/>
            <a:ext cx="3554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p30"/>
          <p:cNvSpPr/>
          <p:nvPr/>
        </p:nvSpPr>
        <p:spPr>
          <a:xfrm>
            <a:off x="831925" y="859175"/>
            <a:ext cx="1139100" cy="113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30"/>
          <p:cNvGrpSpPr/>
          <p:nvPr/>
        </p:nvGrpSpPr>
        <p:grpSpPr>
          <a:xfrm>
            <a:off x="1148888" y="1190759"/>
            <a:ext cx="505722" cy="475767"/>
            <a:chOff x="5972700" y="2330200"/>
            <a:chExt cx="411625" cy="387275"/>
          </a:xfrm>
        </p:grpSpPr>
        <p:sp>
          <p:nvSpPr>
            <p:cNvPr id="328" name="Google Shape;328;p30"/>
            <p:cNvSpPr/>
            <p:nvPr/>
          </p:nvSpPr>
          <p:spPr>
            <a:xfrm>
              <a:off x="5972700" y="2476950"/>
              <a:ext cx="98050" cy="219825"/>
            </a:xfrm>
            <a:custGeom>
              <a:avLst/>
              <a:gdLst/>
              <a:ahLst/>
              <a:cxnLst/>
              <a:rect l="l" t="t" r="r" b="b"/>
              <a:pathLst>
                <a:path w="3922" h="8793" fill="none" extrusionOk="0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0"/>
            <p:cNvSpPr/>
            <p:nvPr/>
          </p:nvSpPr>
          <p:spPr>
            <a:xfrm>
              <a:off x="6078025" y="2330200"/>
              <a:ext cx="306300" cy="387275"/>
            </a:xfrm>
            <a:custGeom>
              <a:avLst/>
              <a:gdLst/>
              <a:ahLst/>
              <a:cxnLst/>
              <a:rect l="l" t="t" r="r" b="b"/>
              <a:pathLst>
                <a:path w="12252" h="15491" fill="none" extrusionOk="0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0" name="Google Shape;330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8A8682"/>
      </a:dk2>
      <a:lt2>
        <a:srgbClr val="F0EEE9"/>
      </a:lt2>
      <a:accent1>
        <a:srgbClr val="FFCD00"/>
      </a:accent1>
      <a:accent2>
        <a:srgbClr val="F6921D"/>
      </a:accent2>
      <a:accent3>
        <a:srgbClr val="A7693A"/>
      </a:accent3>
      <a:accent4>
        <a:srgbClr val="D8D6D2"/>
      </a:accent4>
      <a:accent5>
        <a:srgbClr val="979593"/>
      </a:accent5>
      <a:accent6>
        <a:srgbClr val="6F6868"/>
      </a:accent6>
      <a:hlink>
        <a:srgbClr val="000000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2388</TotalTime>
  <Words>712</Words>
  <Application>Microsoft Office PowerPoint</Application>
  <PresentationFormat>화면 슬라이드 쇼(16:9)</PresentationFormat>
  <Paragraphs>198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Quattrocento Sans</vt:lpstr>
      <vt:lpstr>Calibri</vt:lpstr>
      <vt:lpstr>맑은 고딕</vt:lpstr>
      <vt:lpstr>Arial</vt:lpstr>
      <vt:lpstr>함초롬돋움</vt:lpstr>
      <vt:lpstr>Lora</vt:lpstr>
      <vt:lpstr>Viola template</vt:lpstr>
      <vt:lpstr>About Git? </vt:lpstr>
      <vt:lpstr>Contents</vt:lpstr>
      <vt:lpstr>Git 이란?</vt:lpstr>
      <vt:lpstr>PowerPoint 프레젠테이션</vt:lpstr>
      <vt:lpstr>업무파일 어떻게 작성하시나요?</vt:lpstr>
      <vt:lpstr>PowerPoint 프레젠테이션</vt:lpstr>
      <vt:lpstr>업무 공유 어떻게 하시나요?</vt:lpstr>
      <vt:lpstr>Big concept</vt:lpstr>
      <vt:lpstr>Version Control System (VCS)</vt:lpstr>
      <vt:lpstr>Git 왜 쓰는가?</vt:lpstr>
      <vt:lpstr>버전관리</vt:lpstr>
      <vt:lpstr>버전관리</vt:lpstr>
      <vt:lpstr>백업&amp;협업</vt:lpstr>
      <vt:lpstr>백업&amp;협업</vt:lpstr>
      <vt:lpstr>Git 왜 쓰는가? [개발자 시점] 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전망</vt:lpstr>
      <vt:lpstr>Git 전망</vt:lpstr>
      <vt:lpstr>PowerPoint 프레젠테이션</vt:lpstr>
      <vt:lpstr>교육과정에서의 Git</vt:lpstr>
      <vt:lpstr>교육 과정에서의 Git</vt:lpstr>
      <vt:lpstr>교육 과정에서의 Git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&amp; GitHub</dc:title>
  <dc:creator>a</dc:creator>
  <cp:lastModifiedBy>채원 정</cp:lastModifiedBy>
  <cp:revision>82</cp:revision>
  <dcterms:modified xsi:type="dcterms:W3CDTF">2023-07-20T09:08:55Z</dcterms:modified>
</cp:coreProperties>
</file>